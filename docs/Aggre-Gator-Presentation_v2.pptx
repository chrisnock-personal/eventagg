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2.svg" ContentType="image/svg"/>
  <Override PartName="/ppt/slides/slide12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5.xml" ContentType="application/vnd.openxmlformats-officedocument.presentationml.slide+xml"/>
  <Override PartName="/ppt/notesSlides/notesSlide1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mov</a:t>
            </a: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1DF7CA47-B8D0-43A9-8D24-07CCBED78DF8}" type="slidenum"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A3D75B6-E56D-4CAD-9B44-C099D677E74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6E11C31-D28B-4D43-8E44-B4870616195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F51D65E-D372-44C2-82C3-040F4F216CA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46C46F6A-08A4-4BAC-84EC-4BBA208D143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968B017-1BD9-4854-812B-4B46829941A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52250B6-AB54-412D-AB48-A01E1AA4D56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3A603170-084A-470F-8855-BC409ECDB87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A065059-73A8-4B18-927E-C4DE71C818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AFC6D68-EA1B-412F-BEF2-17E164B6A03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F54CC05-D089-4592-9E02-B9E870DC1F3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C29F01E-1A59-47AA-B9AF-5E2BB280AC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1898070-8A0C-4A10-A6DF-D5E3A645C8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C82E6AB-C34B-4768-AE42-5CF5A9B4BDB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6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B006A6D1-CAA6-452D-95E2-E2B58823195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FC369347-CA2E-4CA4-8E20-61ECF155F99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6F450E48-915B-4CB6-9C02-AC00B115330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5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C57B1F2-6B5B-404E-B6FA-42E24517F0E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A53B6E8C-4161-4820-8938-6D8915950D0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23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9DD3A037-DC24-4E8A-8B6C-15F22650E08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4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52F6B7EF-8FB9-4158-BB32-FEAD557F7B6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7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EC24E4F1-D6C3-4481-9214-200ACF41BDE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0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D3A26F19-AFE8-4C86-9572-1E31131058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4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204CB313-129C-4F4F-A973-5FA342806CC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tabLst>
                <a:tab pos="0" algn="l"/>
              </a:tabLst>
              <a:def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  <a:tabLst>
                <a:tab pos="0" algn="l"/>
              </a:tabLst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GB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GB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GB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GB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0"/>
          <p:cNvSpPr/>
          <p:nvPr/>
        </p:nvSpPr>
        <p:spPr>
          <a:xfrm>
            <a:off x="457200" y="1371600"/>
            <a:ext cx="822816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</a:t>
            </a:r>
            <a:r>
              <a:rPr lang="en-US" sz="7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g</a:t>
            </a:r>
            <a:r>
              <a:rPr lang="en-US" sz="7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g</a:t>
            </a:r>
            <a:r>
              <a:rPr lang="en-US" sz="7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r</a:t>
            </a:r>
            <a:r>
              <a:rPr lang="en-US" sz="7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e</a:t>
            </a:r>
            <a:r>
              <a:rPr lang="en-US" sz="7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/</a:t>
            </a:r>
            <a:r>
              <a:rPr lang="en-US" sz="7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G</a:t>
            </a:r>
            <a:r>
              <a:rPr lang="en-US" sz="7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</a:t>
            </a:r>
            <a:r>
              <a:rPr lang="en-US" sz="7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t</a:t>
            </a:r>
            <a:r>
              <a:rPr lang="en-US" sz="7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o</a:t>
            </a:r>
            <a:r>
              <a:rPr lang="en-US" sz="7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r</a:t>
            </a:r>
            <a:endParaRPr lang="en-GB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7200" y="1371600"/>
            <a:ext cx="8228160" cy="127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7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Aggre</a:t>
            </a:r>
            <a:r>
              <a:rPr lang="en-US" sz="7200" b="1" u="none" strike="noStrike">
                <a:solidFill>
                  <a:srgbClr val="1D6B4E"/>
                </a:solidFill>
                <a:effectLst/>
                <a:uFillTx/>
                <a:latin typeface="Georgia"/>
                <a:ea typeface="Georgia"/>
              </a:rPr>
              <a:t>/</a:t>
            </a:r>
            <a:r>
              <a:rPr lang="en-US" sz="72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Gator</a:t>
            </a:r>
            <a:endParaRPr lang="en-GB" sz="7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" y="2743200"/>
            <a:ext cx="82281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8A8680"/>
                </a:solidFill>
                <a:effectLst/>
                <a:uFillTx/>
                <a:latin typeface="Courier New"/>
                <a:ea typeface="Courier New"/>
              </a:rPr>
              <a:t>event streams, </a:t>
            </a:r>
            <a:r>
              <a:rPr lang="en-US" sz="1600" b="0" u="none" strike="noStrike">
                <a:solidFill>
                  <a:srgbClr val="8A8680"/>
                </a:solidFill>
                <a:effectLst/>
                <a:uFillTx/>
                <a:latin typeface="Courier New"/>
                <a:ea typeface="Courier New"/>
              </a:rPr>
              <a:t>swallowed whole</a:t>
            </a:r>
            <a:endParaRPr lang="en-GB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57200" y="338328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i="1" u="none" strike="noStrike">
                <a:solidFill>
                  <a:srgbClr val="B8DCC9"/>
                </a:solidFill>
                <a:effectLst/>
                <a:uFillTx/>
                <a:latin typeface="Georgia"/>
                <a:ea typeface="Georgia"/>
              </a:rPr>
              <a:t>Intelligent Event </a:t>
            </a:r>
            <a:r>
              <a:rPr lang="en-US" sz="2000" b="0" i="1" u="none" strike="noStrike">
                <a:solidFill>
                  <a:srgbClr val="B8DCC9"/>
                </a:solidFill>
                <a:effectLst/>
                <a:uFillTx/>
                <a:latin typeface="Georgia"/>
                <a:ea typeface="Georgia"/>
              </a:rPr>
              <a:t>Aggregation </a:t>
            </a:r>
            <a:r>
              <a:rPr lang="en-US" sz="2000" b="0" i="1" u="none" strike="noStrike">
                <a:solidFill>
                  <a:srgbClr val="B8DCC9"/>
                </a:solidFill>
                <a:effectLst/>
                <a:uFillTx/>
                <a:latin typeface="Georgia"/>
                <a:ea typeface="Georgia"/>
              </a:rPr>
              <a:t>Platform</a:t>
            </a:r>
            <a:endParaRPr lang="en-GB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0" y="4663440"/>
            <a:ext cx="9142560" cy="478800"/>
          </a:xfrm>
          <a:prstGeom prst="rect">
            <a:avLst/>
          </a:prstGeom>
          <a:solidFill>
            <a:srgbClr val="1D6B4E"/>
          </a:solidFill>
          <a:ln w="1270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0" y="4663440"/>
            <a:ext cx="9142560" cy="478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8DCC9"/>
                </a:solidFill>
                <a:effectLst/>
                <a:uFillTx/>
                <a:latin typeface="Calibri"/>
                <a:ea typeface="Calibri"/>
              </a:rPr>
              <a:t>Source-agnostic  ·  </a:t>
            </a:r>
            <a:r>
              <a:rPr lang="en-US" sz="1100" b="0" u="none" strike="noStrike">
                <a:solidFill>
                  <a:srgbClr val="B8DCC9"/>
                </a:solidFill>
                <a:effectLst/>
                <a:uFillTx/>
                <a:latin typeface="Calibri"/>
                <a:ea typeface="Calibri"/>
              </a:rPr>
              <a:t>Configurable grouping  ·  </a:t>
            </a:r>
            <a:r>
              <a:rPr lang="en-US" sz="1100" b="0" u="none" strike="noStrike">
                <a:solidFill>
                  <a:srgbClr val="B8DCC9"/>
                </a:solidFill>
                <a:effectLst/>
                <a:uFillTx/>
                <a:latin typeface="Calibri"/>
                <a:ea typeface="Calibri"/>
              </a:rPr>
              <a:t>Cradle-to-grave lifecycle  ·  </a:t>
            </a:r>
            <a:r>
              <a:rPr lang="en-US" sz="1100" b="0" u="none" strike="noStrike">
                <a:solidFill>
                  <a:srgbClr val="B8DCC9"/>
                </a:solidFill>
                <a:effectLst/>
                <a:uFillTx/>
                <a:latin typeface="Calibri"/>
                <a:ea typeface="Calibri"/>
              </a:rPr>
              <a:t>Real-time insights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" name="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720000" y="1620000"/>
            <a:ext cx="898920" cy="89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0"/>
          <p:cNvSpPr/>
          <p:nvPr/>
        </p:nvSpPr>
        <p:spPr>
          <a:xfrm>
            <a:off x="457200" y="274320"/>
            <a:ext cx="82281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The </a:t>
            </a:r>
            <a:r>
              <a:rPr lang="en-US" sz="40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Proble</a:t>
            </a:r>
            <a:r>
              <a:rPr lang="en-US" sz="40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m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1"/>
          <p:cNvSpPr/>
          <p:nvPr/>
        </p:nvSpPr>
        <p:spPr>
          <a:xfrm>
            <a:off x="457200" y="96012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Modern systems </a:t>
            </a:r>
            <a:r>
              <a:rPr lang="en-US" sz="140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produce floods of </a:t>
            </a:r>
            <a:r>
              <a:rPr lang="en-US" sz="140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related events - but </a:t>
            </a:r>
            <a:r>
              <a:rPr lang="en-US" sz="140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they arrive fragmented, </a:t>
            </a:r>
            <a:r>
              <a:rPr lang="en-US" sz="140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out of order, and from </a:t>
            </a:r>
            <a:r>
              <a:rPr lang="en-US" sz="140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many sources.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2"/>
          <p:cNvSpPr/>
          <p:nvPr/>
        </p:nvSpPr>
        <p:spPr>
          <a:xfrm>
            <a:off x="257760" y="1600200"/>
            <a:ext cx="4204800" cy="141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3"/>
          <p:cNvSpPr/>
          <p:nvPr/>
        </p:nvSpPr>
        <p:spPr>
          <a:xfrm>
            <a:off x="257760" y="1600200"/>
            <a:ext cx="62640" cy="1415880"/>
          </a:xfrm>
          <a:prstGeom prst="rect">
            <a:avLst/>
          </a:prstGeom>
          <a:solidFill>
            <a:srgbClr val="1D6B4E"/>
          </a:solidFill>
          <a:ln w="1270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320" tIns="45000" rIns="3132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4"/>
          <p:cNvSpPr/>
          <p:nvPr/>
        </p:nvSpPr>
        <p:spPr>
          <a:xfrm>
            <a:off x="394920" y="1710000"/>
            <a:ext cx="501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⚡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5"/>
          <p:cNvSpPr/>
          <p:nvPr/>
        </p:nvSpPr>
        <p:spPr>
          <a:xfrm>
            <a:off x="943560" y="1710000"/>
            <a:ext cx="3381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Scattered Sources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6"/>
          <p:cNvSpPr/>
          <p:nvPr/>
        </p:nvSpPr>
        <p:spPr>
          <a:xfrm>
            <a:off x="943560" y="2103120"/>
            <a:ext cx="338184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Events arrive from APIs, queues, databases, webhooks - all in isolation with no shared context.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7"/>
          <p:cNvSpPr/>
          <p:nvPr/>
        </p:nvSpPr>
        <p:spPr>
          <a:xfrm>
            <a:off x="4692600" y="1600200"/>
            <a:ext cx="4204800" cy="141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Shape 8"/>
          <p:cNvSpPr/>
          <p:nvPr/>
        </p:nvSpPr>
        <p:spPr>
          <a:xfrm>
            <a:off x="4692600" y="1600200"/>
            <a:ext cx="62640" cy="1415880"/>
          </a:xfrm>
          <a:prstGeom prst="rect">
            <a:avLst/>
          </a:prstGeom>
          <a:solidFill>
            <a:srgbClr val="1D6B4E"/>
          </a:solidFill>
          <a:ln w="1270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320" tIns="45000" rIns="3132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9"/>
          <p:cNvSpPr/>
          <p:nvPr/>
        </p:nvSpPr>
        <p:spPr>
          <a:xfrm>
            <a:off x="4829760" y="1710000"/>
            <a:ext cx="501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🔍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 10"/>
          <p:cNvSpPr/>
          <p:nvPr/>
        </p:nvSpPr>
        <p:spPr>
          <a:xfrm>
            <a:off x="5378400" y="1710000"/>
            <a:ext cx="3381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No End-to-End View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11"/>
          <p:cNvSpPr/>
          <p:nvPr/>
        </p:nvSpPr>
        <p:spPr>
          <a:xfrm>
            <a:off x="5378400" y="2103120"/>
            <a:ext cx="338184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Individual events tell you something happened. You can't see the full story without manual correlation.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12"/>
          <p:cNvSpPr/>
          <p:nvPr/>
        </p:nvSpPr>
        <p:spPr>
          <a:xfrm>
            <a:off x="257760" y="3200400"/>
            <a:ext cx="4204800" cy="141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13"/>
          <p:cNvSpPr/>
          <p:nvPr/>
        </p:nvSpPr>
        <p:spPr>
          <a:xfrm>
            <a:off x="257760" y="3200400"/>
            <a:ext cx="62640" cy="1415880"/>
          </a:xfrm>
          <a:prstGeom prst="rect">
            <a:avLst/>
          </a:prstGeom>
          <a:solidFill>
            <a:srgbClr val="1D6B4E"/>
          </a:solidFill>
          <a:ln w="1270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320" tIns="45000" rIns="3132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14"/>
          <p:cNvSpPr/>
          <p:nvPr/>
        </p:nvSpPr>
        <p:spPr>
          <a:xfrm>
            <a:off x="394920" y="3310200"/>
            <a:ext cx="501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⏱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5"/>
          <p:cNvSpPr/>
          <p:nvPr/>
        </p:nvSpPr>
        <p:spPr>
          <a:xfrm>
            <a:off x="943560" y="3310200"/>
            <a:ext cx="3381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Lifecycle is Invisible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6"/>
          <p:cNvSpPr/>
          <p:nvPr/>
        </p:nvSpPr>
        <p:spPr>
          <a:xfrm>
            <a:off x="943560" y="3703320"/>
            <a:ext cx="338184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When did this order actually complete? Did this trade settle? Is this session still active?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17"/>
          <p:cNvSpPr/>
          <p:nvPr/>
        </p:nvSpPr>
        <p:spPr>
          <a:xfrm>
            <a:off x="4692600" y="3200400"/>
            <a:ext cx="4204800" cy="141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18"/>
          <p:cNvSpPr/>
          <p:nvPr/>
        </p:nvSpPr>
        <p:spPr>
          <a:xfrm>
            <a:off x="4692600" y="3200400"/>
            <a:ext cx="62640" cy="1415880"/>
          </a:xfrm>
          <a:prstGeom prst="rect">
            <a:avLst/>
          </a:prstGeom>
          <a:solidFill>
            <a:srgbClr val="1D6B4E"/>
          </a:solidFill>
          <a:ln w="1270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320" tIns="45000" rIns="3132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9"/>
          <p:cNvSpPr/>
          <p:nvPr/>
        </p:nvSpPr>
        <p:spPr>
          <a:xfrm>
            <a:off x="4829760" y="3310200"/>
            <a:ext cx="501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📊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20"/>
          <p:cNvSpPr/>
          <p:nvPr/>
        </p:nvSpPr>
        <p:spPr>
          <a:xfrm>
            <a:off x="5378400" y="3310200"/>
            <a:ext cx="3381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Insights are Missing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21"/>
          <p:cNvSpPr/>
          <p:nvPr/>
        </p:nvSpPr>
        <p:spPr>
          <a:xfrm>
            <a:off x="5378400" y="3703320"/>
            <a:ext cx="338184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Without grouped data, reporting is limited to raw event counts - not meaningful business metrics.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0"/>
          <p:cNvSpPr/>
          <p:nvPr/>
        </p:nvSpPr>
        <p:spPr>
          <a:xfrm>
            <a:off x="457200" y="274320"/>
            <a:ext cx="82281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What Aggre/Gator Does</a:t>
            </a:r>
            <a:endParaRPr lang="en-GB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"/>
          <p:cNvSpPr/>
          <p:nvPr/>
        </p:nvSpPr>
        <p:spPr>
          <a:xfrm>
            <a:off x="457200" y="960120"/>
            <a:ext cx="82281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B8DCC9"/>
                </a:solidFill>
                <a:effectLst/>
                <a:uFillTx/>
                <a:latin typeface="Calibri"/>
                <a:ea typeface="Calibri"/>
              </a:rPr>
              <a:t>One platform. Any source. Complete event lifecycle - automatically.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2"/>
          <p:cNvSpPr/>
          <p:nvPr/>
        </p:nvSpPr>
        <p:spPr>
          <a:xfrm>
            <a:off x="257760" y="1508760"/>
            <a:ext cx="4204800" cy="1644480"/>
          </a:xfrm>
          <a:prstGeom prst="rect">
            <a:avLst/>
          </a:prstGeom>
          <a:solidFill>
            <a:srgbClr val="252320"/>
          </a:solidFill>
          <a:ln w="12700">
            <a:solidFill>
              <a:srgbClr val="3A38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422280" y="1618560"/>
            <a:ext cx="6386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D6B4E"/>
                </a:solidFill>
                <a:effectLst/>
                <a:uFillTx/>
                <a:latin typeface="Georgia"/>
                <a:ea typeface="Georgia"/>
              </a:rPr>
              <a:t>01</a:t>
            </a:r>
            <a:endParaRPr lang="en-GB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4"/>
          <p:cNvSpPr/>
          <p:nvPr/>
        </p:nvSpPr>
        <p:spPr>
          <a:xfrm>
            <a:off x="1080720" y="1645920"/>
            <a:ext cx="3198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Ingest from Anywhere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5"/>
          <p:cNvSpPr/>
          <p:nvPr/>
        </p:nvSpPr>
        <p:spPr>
          <a:xfrm>
            <a:off x="422280" y="2194560"/>
            <a:ext cx="383904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A single HTTP endpoint accepts events from any producer - APIs, queues, webhooks, batch jobs. Full REST API available for headless integration of all core features.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6"/>
          <p:cNvSpPr/>
          <p:nvPr/>
        </p:nvSpPr>
        <p:spPr>
          <a:xfrm>
            <a:off x="4692600" y="1508760"/>
            <a:ext cx="4204800" cy="1644480"/>
          </a:xfrm>
          <a:prstGeom prst="rect">
            <a:avLst/>
          </a:prstGeom>
          <a:solidFill>
            <a:srgbClr val="252320"/>
          </a:solidFill>
          <a:ln w="12700">
            <a:solidFill>
              <a:srgbClr val="3A38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7"/>
          <p:cNvSpPr/>
          <p:nvPr/>
        </p:nvSpPr>
        <p:spPr>
          <a:xfrm>
            <a:off x="4857120" y="1618560"/>
            <a:ext cx="6386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D6B4E"/>
                </a:solidFill>
                <a:effectLst/>
                <a:uFillTx/>
                <a:latin typeface="Georgia"/>
                <a:ea typeface="Georgia"/>
              </a:rPr>
              <a:t>02</a:t>
            </a:r>
            <a:endParaRPr lang="en-GB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8"/>
          <p:cNvSpPr/>
          <p:nvPr/>
        </p:nvSpPr>
        <p:spPr>
          <a:xfrm>
            <a:off x="5515560" y="1645920"/>
            <a:ext cx="3198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Group by Configurable Key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9"/>
          <p:cNvSpPr/>
          <p:nvPr/>
        </p:nvSpPr>
        <p:spPr>
          <a:xfrm>
            <a:off x="4857120" y="2194560"/>
            <a:ext cx="383904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Policies define which field in the event body acts as the aggregation key. All events sharing a key value are automatically linked into one group.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Shape 10"/>
          <p:cNvSpPr/>
          <p:nvPr/>
        </p:nvSpPr>
        <p:spPr>
          <a:xfrm>
            <a:off x="257760" y="3291840"/>
            <a:ext cx="4204800" cy="1644480"/>
          </a:xfrm>
          <a:prstGeom prst="rect">
            <a:avLst/>
          </a:prstGeom>
          <a:solidFill>
            <a:srgbClr val="252320"/>
          </a:solidFill>
          <a:ln w="12700">
            <a:solidFill>
              <a:srgbClr val="3A38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1"/>
          <p:cNvSpPr/>
          <p:nvPr/>
        </p:nvSpPr>
        <p:spPr>
          <a:xfrm>
            <a:off x="422280" y="3401640"/>
            <a:ext cx="6386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D6B4E"/>
                </a:solidFill>
                <a:effectLst/>
                <a:uFillTx/>
                <a:latin typeface="Georgia"/>
                <a:ea typeface="Georgia"/>
              </a:rPr>
              <a:t>03</a:t>
            </a:r>
            <a:endParaRPr lang="en-GB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12"/>
          <p:cNvSpPr/>
          <p:nvPr/>
        </p:nvSpPr>
        <p:spPr>
          <a:xfrm>
            <a:off x="1080720" y="3429000"/>
            <a:ext cx="3198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Cradle-to-Grave Lifecycle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3"/>
          <p:cNvSpPr/>
          <p:nvPr/>
        </p:nvSpPr>
        <p:spPr>
          <a:xfrm>
            <a:off x="422280" y="3977640"/>
            <a:ext cx="383904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Define exactly which event opens a group (cradle) and which closes it (grave) using per-policy field conditions. You control the lifecycle rules.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" name="Shape 14"/>
          <p:cNvSpPr/>
          <p:nvPr/>
        </p:nvSpPr>
        <p:spPr>
          <a:xfrm>
            <a:off x="4692600" y="3291840"/>
            <a:ext cx="4204800" cy="1644480"/>
          </a:xfrm>
          <a:prstGeom prst="rect">
            <a:avLst/>
          </a:prstGeom>
          <a:solidFill>
            <a:srgbClr val="252320"/>
          </a:solidFill>
          <a:ln w="12700">
            <a:solidFill>
              <a:srgbClr val="3A38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 15"/>
          <p:cNvSpPr/>
          <p:nvPr/>
        </p:nvSpPr>
        <p:spPr>
          <a:xfrm>
            <a:off x="4857120" y="3401640"/>
            <a:ext cx="6386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D6B4E"/>
                </a:solidFill>
                <a:effectLst/>
                <a:uFillTx/>
                <a:latin typeface="Georgia"/>
                <a:ea typeface="Georgia"/>
              </a:rPr>
              <a:t>04</a:t>
            </a:r>
            <a:endParaRPr lang="en-GB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6"/>
          <p:cNvSpPr/>
          <p:nvPr/>
        </p:nvSpPr>
        <p:spPr>
          <a:xfrm>
            <a:off x="5515560" y="3429000"/>
            <a:ext cx="3198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Reports &amp; Insights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17"/>
          <p:cNvSpPr/>
          <p:nvPr/>
        </p:nvSpPr>
        <p:spPr>
          <a:xfrm>
            <a:off x="4857120" y="3977640"/>
            <a:ext cx="3839040" cy="86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Real-time dashboards show throughput, completion rates, duration distributions, and per-policy breakdowns. Timed-out groups are surfaced automatically.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0"/>
          <p:cNvSpPr/>
          <p:nvPr/>
        </p:nvSpPr>
        <p:spPr>
          <a:xfrm>
            <a:off x="365760" y="274320"/>
            <a:ext cx="82281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Source Agnostic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1"/>
          <p:cNvSpPr/>
          <p:nvPr/>
        </p:nvSpPr>
        <p:spPr>
          <a:xfrm>
            <a:off x="365760" y="960120"/>
            <a:ext cx="45705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i="1" u="none" strike="noStrike">
                <a:solidFill>
                  <a:srgbClr val="1D6B4E"/>
                </a:solidFill>
                <a:effectLst/>
                <a:uFillTx/>
                <a:latin typeface="Calibri"/>
                <a:ea typeface="Calibri"/>
              </a:rPr>
              <a:t>One endpoint. Any producer.</a:t>
            </a:r>
            <a:endParaRPr lang="en-GB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2"/>
          <p:cNvSpPr/>
          <p:nvPr/>
        </p:nvSpPr>
        <p:spPr>
          <a:xfrm>
            <a:off x="365760" y="1417320"/>
            <a:ext cx="1735920" cy="63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3"/>
          <p:cNvSpPr/>
          <p:nvPr/>
        </p:nvSpPr>
        <p:spPr>
          <a:xfrm>
            <a:off x="365760" y="1417320"/>
            <a:ext cx="1735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REST API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4"/>
          <p:cNvSpPr/>
          <p:nvPr/>
        </p:nvSpPr>
        <p:spPr>
          <a:xfrm>
            <a:off x="365760" y="2286000"/>
            <a:ext cx="1735920" cy="63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5"/>
          <p:cNvSpPr/>
          <p:nvPr/>
        </p:nvSpPr>
        <p:spPr>
          <a:xfrm>
            <a:off x="365760" y="2286000"/>
            <a:ext cx="1735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Message Queue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6"/>
          <p:cNvSpPr/>
          <p:nvPr/>
        </p:nvSpPr>
        <p:spPr>
          <a:xfrm>
            <a:off x="365760" y="3154680"/>
            <a:ext cx="1735920" cy="63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7"/>
          <p:cNvSpPr/>
          <p:nvPr/>
        </p:nvSpPr>
        <p:spPr>
          <a:xfrm>
            <a:off x="365760" y="3154680"/>
            <a:ext cx="1735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Webhook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8"/>
          <p:cNvSpPr/>
          <p:nvPr/>
        </p:nvSpPr>
        <p:spPr>
          <a:xfrm>
            <a:off x="2286000" y="1417320"/>
            <a:ext cx="1735920" cy="63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9"/>
          <p:cNvSpPr/>
          <p:nvPr/>
        </p:nvSpPr>
        <p:spPr>
          <a:xfrm>
            <a:off x="2286000" y="1417320"/>
            <a:ext cx="1735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Batch Job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10"/>
          <p:cNvSpPr/>
          <p:nvPr/>
        </p:nvSpPr>
        <p:spPr>
          <a:xfrm>
            <a:off x="2286000" y="2286000"/>
            <a:ext cx="1735920" cy="63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1"/>
          <p:cNvSpPr/>
          <p:nvPr/>
        </p:nvSpPr>
        <p:spPr>
          <a:xfrm>
            <a:off x="2286000" y="2286000"/>
            <a:ext cx="1735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Database CDC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12"/>
          <p:cNvSpPr/>
          <p:nvPr/>
        </p:nvSpPr>
        <p:spPr>
          <a:xfrm>
            <a:off x="2286000" y="3154680"/>
            <a:ext cx="1735920" cy="63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3"/>
          <p:cNvSpPr/>
          <p:nvPr/>
        </p:nvSpPr>
        <p:spPr>
          <a:xfrm>
            <a:off x="2286000" y="3154680"/>
            <a:ext cx="1735920" cy="6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IoT Device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17"/>
          <p:cNvSpPr/>
          <p:nvPr/>
        </p:nvSpPr>
        <p:spPr>
          <a:xfrm>
            <a:off x="4846320" y="1783080"/>
            <a:ext cx="2010240" cy="1050120"/>
          </a:xfrm>
          <a:prstGeom prst="rect">
            <a:avLst/>
          </a:prstGeom>
          <a:solidFill>
            <a:srgbClr val="1D6B4E"/>
          </a:solidFill>
          <a:ln w="12700">
            <a:solidFill>
              <a:srgbClr val="1D6B4E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8"/>
          <p:cNvSpPr/>
          <p:nvPr/>
        </p:nvSpPr>
        <p:spPr>
          <a:xfrm>
            <a:off x="4846320" y="1828800"/>
            <a:ext cx="20102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POST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/api/v1/events/ingest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9"/>
          <p:cNvSpPr/>
          <p:nvPr/>
        </p:nvSpPr>
        <p:spPr>
          <a:xfrm>
            <a:off x="4846320" y="2423160"/>
            <a:ext cx="201024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B8DCC9"/>
                </a:solidFill>
                <a:effectLst/>
                <a:uFillTx/>
                <a:latin typeface="Calibri"/>
                <a:ea typeface="Calibri"/>
              </a:rPr>
              <a:t>Single HTTP Endpoint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20"/>
          <p:cNvSpPr/>
          <p:nvPr/>
        </p:nvSpPr>
        <p:spPr>
          <a:xfrm>
            <a:off x="4846320" y="2971800"/>
            <a:ext cx="3930480" cy="191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21"/>
          <p:cNvSpPr/>
          <p:nvPr/>
        </p:nvSpPr>
        <p:spPr>
          <a:xfrm>
            <a:off x="4983480" y="3063240"/>
            <a:ext cx="3656160" cy="1735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No source-specific connectors or adapters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Events are plain JSON - any schema accepted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Policy rules extract meaning from the body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Works with sync APIs and async queues alike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US" sz="110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On-premise, cloud, or hybrid producers supported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"/>
          <p:cNvSpPr/>
          <p:nvPr/>
        </p:nvSpPr>
        <p:spPr>
          <a:xfrm>
            <a:off x="4140000" y="2160000"/>
            <a:ext cx="538920" cy="178920"/>
          </a:xfrm>
          <a:prstGeom prst="rightArrow">
            <a:avLst>
              <a:gd name="adj1" fmla="val 50000"/>
              <a:gd name="adj2" fmla="val 75000"/>
            </a:avLst>
          </a:prstGeom>
          <a:solidFill>
            <a:srgbClr val="144A36"/>
          </a:solidFill>
          <a:ln w="0">
            <a:solidFill>
              <a:srgbClr val="144A36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4640" rIns="90000" bIns="44640" anchor="ctr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Text 0"/>
          <p:cNvSpPr/>
          <p:nvPr/>
        </p:nvSpPr>
        <p:spPr>
          <a:xfrm>
            <a:off x="365760" y="274320"/>
            <a:ext cx="8411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Grouping by Configurable Key</a:t>
            </a:r>
            <a:endParaRPr lang="en-GB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"/>
          <p:cNvSpPr/>
          <p:nvPr/>
        </p:nvSpPr>
        <p:spPr>
          <a:xfrm>
            <a:off x="365760" y="960120"/>
            <a:ext cx="8228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D6B4E"/>
                </a:solidFill>
                <a:effectLst/>
                <a:uFillTx/>
                <a:latin typeface="Calibri"/>
                <a:ea typeface="Calibri"/>
              </a:rPr>
              <a:t>Related events automatically linked - no code required.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2"/>
          <p:cNvSpPr/>
          <p:nvPr/>
        </p:nvSpPr>
        <p:spPr>
          <a:xfrm>
            <a:off x="365760" y="1417320"/>
            <a:ext cx="3747600" cy="2330280"/>
          </a:xfrm>
          <a:prstGeom prst="rect">
            <a:avLst/>
          </a:prstGeom>
          <a:solidFill>
            <a:srgbClr val="1A1916"/>
          </a:solidFill>
          <a:ln w="12700">
            <a:solidFill>
              <a:srgbClr val="1A1916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3"/>
          <p:cNvSpPr/>
          <p:nvPr/>
        </p:nvSpPr>
        <p:spPr>
          <a:xfrm>
            <a:off x="457200" y="1508760"/>
            <a:ext cx="35647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B8DCC9"/>
                </a:solidFill>
                <a:effectLst/>
                <a:uFillTx/>
                <a:latin typeface="Georgia"/>
                <a:ea typeface="Georgia"/>
              </a:rPr>
              <a:t>Policy Configuration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4"/>
          <p:cNvSpPr/>
          <p:nvPr/>
        </p:nvSpPr>
        <p:spPr>
          <a:xfrm>
            <a:off x="457200" y="1901880"/>
            <a:ext cx="3564720" cy="178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8A8680"/>
                </a:solidFill>
                <a:effectLst/>
                <a:uFillTx/>
                <a:latin typeface="Courier New"/>
                <a:ea typeface="Courier New"/>
              </a:rPr>
              <a:t>name:         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Trade Lifecycle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8A8680"/>
                </a:solidFill>
                <a:effectLst/>
                <a:uFillTx/>
                <a:latin typeface="Courier New"/>
                <a:ea typeface="Courier New"/>
              </a:rPr>
              <a:t>key_field:    </a:t>
            </a:r>
            <a:r>
              <a:rPr lang="en-US" sz="1000" b="0" u="none" strike="noStrike">
                <a:solidFill>
                  <a:srgbClr val="86EFAC"/>
                </a:solidFill>
                <a:effectLst/>
                <a:uFillTx/>
                <a:latin typeface="Courier New"/>
                <a:ea typeface="Courier New"/>
              </a:rPr>
              <a:t>body.tradeRef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8A8680"/>
                </a:solidFill>
                <a:effectLst/>
                <a:uFillTx/>
                <a:latin typeface="Courier New"/>
                <a:ea typeface="Courier New"/>
              </a:rPr>
              <a:t>cradle_field: 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body.eventType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8A8680"/>
                </a:solidFill>
                <a:effectLst/>
                <a:uFillTx/>
                <a:latin typeface="Courier New"/>
                <a:ea typeface="Courier New"/>
              </a:rPr>
              <a:t>cradle_value: </a:t>
            </a:r>
            <a:r>
              <a:rPr lang="en-US" sz="1000" b="0" u="none" strike="noStrike">
                <a:solidFill>
                  <a:srgbClr val="FCA5A5"/>
                </a:solidFill>
                <a:effectLst/>
                <a:uFillTx/>
                <a:latin typeface="Courier New"/>
                <a:ea typeface="Courier New"/>
              </a:rPr>
              <a:t>"trade.initiated"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000" b="0" u="none" strike="noStrike">
                <a:solidFill>
                  <a:srgbClr val="8A8680"/>
                </a:solidFill>
                <a:effectLst/>
                <a:uFillTx/>
                <a:latin typeface="Courier New"/>
                <a:ea typeface="Courier New"/>
              </a:rPr>
              <a:t>grave_field:  </a:t>
            </a:r>
            <a:r>
              <a:rPr lang="en-US" sz="1000" b="0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body.status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8680"/>
                </a:solidFill>
                <a:effectLst/>
                <a:uFillTx/>
                <a:latin typeface="Courier New"/>
                <a:ea typeface="Courier New"/>
              </a:rPr>
              <a:t>grave_value:  </a:t>
            </a:r>
            <a:r>
              <a:rPr lang="en-US" sz="1000" b="0" u="none" strike="noStrike">
                <a:solidFill>
                  <a:srgbClr val="FCA5A5"/>
                </a:solidFill>
                <a:effectLst/>
                <a:uFillTx/>
                <a:latin typeface="Courier New"/>
                <a:ea typeface="Courier New"/>
              </a:rPr>
              <a:t>"settled"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5"/>
          <p:cNvSpPr/>
          <p:nvPr/>
        </p:nvSpPr>
        <p:spPr>
          <a:xfrm>
            <a:off x="4160520" y="2286000"/>
            <a:ext cx="4557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0" u="none" strike="noStrike">
                <a:solidFill>
                  <a:srgbClr val="1D6B4E"/>
                </a:solidFill>
                <a:effectLst/>
                <a:uFillTx/>
                <a:latin typeface="Calibri"/>
                <a:ea typeface="Calibri"/>
              </a:rPr>
              <a:t>→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6"/>
          <p:cNvSpPr/>
          <p:nvPr/>
        </p:nvSpPr>
        <p:spPr>
          <a:xfrm>
            <a:off x="4709160" y="1417320"/>
            <a:ext cx="4067640" cy="233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7"/>
          <p:cNvSpPr/>
          <p:nvPr/>
        </p:nvSpPr>
        <p:spPr>
          <a:xfrm>
            <a:off x="4800600" y="1508760"/>
            <a:ext cx="38390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Event Group: TRD-9001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8"/>
          <p:cNvSpPr/>
          <p:nvPr/>
        </p:nvSpPr>
        <p:spPr>
          <a:xfrm>
            <a:off x="4800600" y="1947600"/>
            <a:ext cx="3839040" cy="345960"/>
          </a:xfrm>
          <a:prstGeom prst="rect">
            <a:avLst/>
          </a:prstGeom>
          <a:solidFill>
            <a:srgbClr val="F8F7F4"/>
          </a:solidFill>
          <a:ln w="12700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9"/>
          <p:cNvSpPr/>
          <p:nvPr/>
        </p:nvSpPr>
        <p:spPr>
          <a:xfrm>
            <a:off x="4846320" y="2030040"/>
            <a:ext cx="181440" cy="181440"/>
          </a:xfrm>
          <a:prstGeom prst="ellipse">
            <a:avLst/>
          </a:prstGeom>
          <a:solidFill>
            <a:srgbClr val="1D6B4E"/>
          </a:solidFill>
          <a:ln w="1270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10"/>
          <p:cNvSpPr/>
          <p:nvPr/>
        </p:nvSpPr>
        <p:spPr>
          <a:xfrm>
            <a:off x="5093280" y="1993320"/>
            <a:ext cx="25588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916"/>
                </a:solidFill>
                <a:effectLst/>
                <a:uFillTx/>
                <a:latin typeface="Courier New"/>
                <a:ea typeface="Courier New"/>
              </a:rPr>
              <a:t>trade.initiated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11"/>
          <p:cNvSpPr/>
          <p:nvPr/>
        </p:nvSpPr>
        <p:spPr>
          <a:xfrm>
            <a:off x="7589520" y="2020680"/>
            <a:ext cx="8398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1D6B4E"/>
                </a:solidFill>
                <a:effectLst/>
                <a:uFillTx/>
                <a:latin typeface="Calibri"/>
                <a:ea typeface="Calibri"/>
              </a:rPr>
              <a:t>CRADLE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12"/>
          <p:cNvSpPr/>
          <p:nvPr/>
        </p:nvSpPr>
        <p:spPr>
          <a:xfrm>
            <a:off x="4800600" y="2377440"/>
            <a:ext cx="3839040" cy="345960"/>
          </a:xfrm>
          <a:prstGeom prst="rect">
            <a:avLst/>
          </a:prstGeom>
          <a:solidFill>
            <a:srgbClr val="F8F7F4"/>
          </a:solidFill>
          <a:ln w="12700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13"/>
          <p:cNvSpPr/>
          <p:nvPr/>
        </p:nvSpPr>
        <p:spPr>
          <a:xfrm>
            <a:off x="4846320" y="2459880"/>
            <a:ext cx="181440" cy="181440"/>
          </a:xfrm>
          <a:prstGeom prst="ellipse">
            <a:avLst/>
          </a:prstGeom>
          <a:solidFill>
            <a:srgbClr val="E0DDD8"/>
          </a:solidFill>
          <a:ln w="12700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4"/>
          <p:cNvSpPr/>
          <p:nvPr/>
        </p:nvSpPr>
        <p:spPr>
          <a:xfrm>
            <a:off x="5093280" y="2423160"/>
            <a:ext cx="25588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916"/>
                </a:solidFill>
                <a:effectLst/>
                <a:uFillTx/>
                <a:latin typeface="Courier New"/>
                <a:ea typeface="Courier New"/>
              </a:rPr>
              <a:t>trade.confirmed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5"/>
          <p:cNvSpPr/>
          <p:nvPr/>
        </p:nvSpPr>
        <p:spPr>
          <a:xfrm>
            <a:off x="4800600" y="2807280"/>
            <a:ext cx="3839040" cy="345960"/>
          </a:xfrm>
          <a:prstGeom prst="rect">
            <a:avLst/>
          </a:prstGeom>
          <a:solidFill>
            <a:srgbClr val="F8F7F4"/>
          </a:solidFill>
          <a:ln w="12700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6"/>
          <p:cNvSpPr/>
          <p:nvPr/>
        </p:nvSpPr>
        <p:spPr>
          <a:xfrm>
            <a:off x="4846320" y="2889360"/>
            <a:ext cx="181440" cy="181440"/>
          </a:xfrm>
          <a:prstGeom prst="ellipse">
            <a:avLst/>
          </a:prstGeom>
          <a:solidFill>
            <a:srgbClr val="E0DDD8"/>
          </a:solidFill>
          <a:ln w="12700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7"/>
          <p:cNvSpPr/>
          <p:nvPr/>
        </p:nvSpPr>
        <p:spPr>
          <a:xfrm>
            <a:off x="5093280" y="2853000"/>
            <a:ext cx="25588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916"/>
                </a:solidFill>
                <a:effectLst/>
                <a:uFillTx/>
                <a:latin typeface="Courier New"/>
                <a:ea typeface="Courier New"/>
              </a:rPr>
              <a:t>trade.cleared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18"/>
          <p:cNvSpPr/>
          <p:nvPr/>
        </p:nvSpPr>
        <p:spPr>
          <a:xfrm>
            <a:off x="4800600" y="3237120"/>
            <a:ext cx="3839040" cy="345960"/>
          </a:xfrm>
          <a:prstGeom prst="rect">
            <a:avLst/>
          </a:prstGeom>
          <a:solidFill>
            <a:srgbClr val="F8F7F4"/>
          </a:solidFill>
          <a:ln w="12700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19"/>
          <p:cNvSpPr/>
          <p:nvPr/>
        </p:nvSpPr>
        <p:spPr>
          <a:xfrm>
            <a:off x="4846320" y="3319200"/>
            <a:ext cx="181440" cy="18144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20"/>
          <p:cNvSpPr/>
          <p:nvPr/>
        </p:nvSpPr>
        <p:spPr>
          <a:xfrm>
            <a:off x="5093280" y="3282840"/>
            <a:ext cx="25588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1A1916"/>
                </a:solidFill>
                <a:effectLst/>
                <a:uFillTx/>
                <a:latin typeface="Courier New"/>
                <a:ea typeface="Courier New"/>
              </a:rPr>
              <a:t>status: "settled"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21"/>
          <p:cNvSpPr/>
          <p:nvPr/>
        </p:nvSpPr>
        <p:spPr>
          <a:xfrm>
            <a:off x="7589520" y="3310200"/>
            <a:ext cx="8398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C2410C"/>
                </a:solidFill>
                <a:effectLst/>
                <a:uFillTx/>
                <a:latin typeface="Calibri"/>
                <a:ea typeface="Calibri"/>
              </a:rPr>
              <a:t>GRAVE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22"/>
          <p:cNvSpPr/>
          <p:nvPr/>
        </p:nvSpPr>
        <p:spPr>
          <a:xfrm>
            <a:off x="365760" y="3931920"/>
            <a:ext cx="8411040" cy="867240"/>
          </a:xfrm>
          <a:prstGeom prst="rect">
            <a:avLst/>
          </a:prstGeom>
          <a:solidFill>
            <a:srgbClr val="1D6B4E">
              <a:alpha val="12000"/>
            </a:srgbClr>
          </a:solidFill>
          <a:ln w="12700">
            <a:solidFill>
              <a:srgbClr val="1D6B4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23"/>
          <p:cNvSpPr/>
          <p:nvPr/>
        </p:nvSpPr>
        <p:spPr>
          <a:xfrm>
            <a:off x="502920" y="4005000"/>
            <a:ext cx="8228160" cy="73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1D6B4E"/>
                </a:solidFill>
                <a:effectLst/>
                <a:uFillTx/>
                <a:latin typeface="Calibri"/>
                <a:ea typeface="Calibri"/>
              </a:rPr>
              <a:t>Any JSON field can be the aggregation key — tradeRef, orderId, sessionId, correlationId. No schema changes required. Policies are created and modified through the UI at runtime.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0"/>
          <p:cNvSpPr/>
          <p:nvPr/>
        </p:nvSpPr>
        <p:spPr>
          <a:xfrm>
            <a:off x="457200" y="274320"/>
            <a:ext cx="82281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Cradle-to-Grave Lifecycle</a:t>
            </a:r>
            <a:endParaRPr lang="en-GB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1"/>
          <p:cNvSpPr/>
          <p:nvPr/>
        </p:nvSpPr>
        <p:spPr>
          <a:xfrm>
            <a:off x="457200" y="960120"/>
            <a:ext cx="82281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B8DCC9"/>
                </a:solidFill>
                <a:effectLst/>
                <a:uFillTx/>
                <a:latin typeface="Calibri"/>
                <a:ea typeface="Calibri"/>
              </a:rPr>
              <a:t>User-defined open and close criteria. The platform handles the rest.</a:t>
            </a:r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2"/>
          <p:cNvSpPr/>
          <p:nvPr/>
        </p:nvSpPr>
        <p:spPr>
          <a:xfrm>
            <a:off x="548640" y="2560320"/>
            <a:ext cx="8045280" cy="71640"/>
          </a:xfrm>
          <a:prstGeom prst="rect">
            <a:avLst/>
          </a:prstGeom>
          <a:solidFill>
            <a:srgbClr val="3A3835"/>
          </a:solidFill>
          <a:ln w="12700">
            <a:solidFill>
              <a:srgbClr val="3A38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28080" rIns="90000" bIns="2808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3"/>
          <p:cNvSpPr/>
          <p:nvPr/>
        </p:nvSpPr>
        <p:spPr>
          <a:xfrm>
            <a:off x="539640" y="2505600"/>
            <a:ext cx="245520" cy="245520"/>
          </a:xfrm>
          <a:prstGeom prst="ellipse">
            <a:avLst/>
          </a:prstGeom>
          <a:solidFill>
            <a:srgbClr val="8A8680"/>
          </a:solidFill>
          <a:ln w="12700">
            <a:solidFill>
              <a:srgbClr val="8A86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4"/>
          <p:cNvSpPr/>
          <p:nvPr/>
        </p:nvSpPr>
        <p:spPr>
          <a:xfrm>
            <a:off x="155520" y="2880360"/>
            <a:ext cx="10958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Event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Received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5"/>
          <p:cNvSpPr/>
          <p:nvPr/>
        </p:nvSpPr>
        <p:spPr>
          <a:xfrm>
            <a:off x="109800" y="3401640"/>
            <a:ext cx="1187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Any source POSTs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a JSON event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6"/>
          <p:cNvSpPr/>
          <p:nvPr/>
        </p:nvSpPr>
        <p:spPr>
          <a:xfrm>
            <a:off x="658080" y="2633400"/>
            <a:ext cx="360" cy="255960"/>
          </a:xfrm>
          <a:prstGeom prst="line">
            <a:avLst/>
          </a:prstGeom>
          <a:ln w="12700">
            <a:solidFill>
              <a:srgbClr val="8A868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Shape 7"/>
          <p:cNvSpPr/>
          <p:nvPr/>
        </p:nvSpPr>
        <p:spPr>
          <a:xfrm>
            <a:off x="2304360" y="2505600"/>
            <a:ext cx="245520" cy="245520"/>
          </a:xfrm>
          <a:prstGeom prst="ellipse">
            <a:avLst/>
          </a:prstGeom>
          <a:solidFill>
            <a:srgbClr val="1D6B4E"/>
          </a:solidFill>
          <a:ln w="1270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8"/>
          <p:cNvSpPr/>
          <p:nvPr/>
        </p:nvSpPr>
        <p:spPr>
          <a:xfrm>
            <a:off x="1920240" y="1554480"/>
            <a:ext cx="10958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D6B4E"/>
                </a:solidFill>
                <a:effectLst/>
                <a:uFillTx/>
                <a:latin typeface="Calibri"/>
                <a:ea typeface="Calibri"/>
              </a:rPr>
              <a:t>CRADLE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D6B4E"/>
                </a:solidFill>
                <a:effectLst/>
                <a:uFillTx/>
                <a:latin typeface="Calibri"/>
                <a:ea typeface="Calibri"/>
              </a:rPr>
              <a:t>Matched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9"/>
          <p:cNvSpPr/>
          <p:nvPr/>
        </p:nvSpPr>
        <p:spPr>
          <a:xfrm>
            <a:off x="1874520" y="1993320"/>
            <a:ext cx="1187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Field condition met group opens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0"/>
          <p:cNvSpPr/>
          <p:nvPr/>
        </p:nvSpPr>
        <p:spPr>
          <a:xfrm flipV="1">
            <a:off x="2423160" y="2029680"/>
            <a:ext cx="360" cy="457200"/>
          </a:xfrm>
          <a:prstGeom prst="line">
            <a:avLst/>
          </a:prstGeom>
          <a:ln w="12700">
            <a:solidFill>
              <a:srgbClr val="1D6B4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Shape 11"/>
          <p:cNvSpPr/>
          <p:nvPr/>
        </p:nvSpPr>
        <p:spPr>
          <a:xfrm>
            <a:off x="4434840" y="2505600"/>
            <a:ext cx="245520" cy="245520"/>
          </a:xfrm>
          <a:prstGeom prst="ellipse">
            <a:avLst/>
          </a:prstGeom>
          <a:solidFill>
            <a:srgbClr val="6B7280"/>
          </a:solidFill>
          <a:ln w="12700">
            <a:solidFill>
              <a:srgbClr val="6B728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2"/>
          <p:cNvSpPr/>
          <p:nvPr/>
        </p:nvSpPr>
        <p:spPr>
          <a:xfrm>
            <a:off x="4050720" y="2880360"/>
            <a:ext cx="10958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Segments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6B7280"/>
                </a:solidFill>
                <a:effectLst/>
                <a:uFillTx/>
                <a:latin typeface="Calibri"/>
                <a:ea typeface="Calibri"/>
              </a:rPr>
              <a:t>Append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3"/>
          <p:cNvSpPr/>
          <p:nvPr/>
        </p:nvSpPr>
        <p:spPr>
          <a:xfrm>
            <a:off x="4005000" y="3401640"/>
            <a:ext cx="1187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Subsequent events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link to the group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4"/>
          <p:cNvSpPr/>
          <p:nvPr/>
        </p:nvSpPr>
        <p:spPr>
          <a:xfrm>
            <a:off x="4553640" y="2633400"/>
            <a:ext cx="360" cy="255960"/>
          </a:xfrm>
          <a:prstGeom prst="line">
            <a:avLst/>
          </a:prstGeom>
          <a:ln w="12700">
            <a:solidFill>
              <a:srgbClr val="6B7280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Shape 15"/>
          <p:cNvSpPr/>
          <p:nvPr/>
        </p:nvSpPr>
        <p:spPr>
          <a:xfrm>
            <a:off x="6327720" y="2505600"/>
            <a:ext cx="245520" cy="2455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16"/>
          <p:cNvSpPr/>
          <p:nvPr/>
        </p:nvSpPr>
        <p:spPr>
          <a:xfrm>
            <a:off x="5943600" y="1554480"/>
            <a:ext cx="10958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2410C"/>
                </a:solidFill>
                <a:effectLst/>
                <a:uFillTx/>
                <a:latin typeface="Calibri"/>
                <a:ea typeface="Calibri"/>
              </a:rPr>
              <a:t>GRAVE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C2410C"/>
                </a:solidFill>
                <a:effectLst/>
                <a:uFillTx/>
                <a:latin typeface="Calibri"/>
                <a:ea typeface="Calibri"/>
              </a:rPr>
              <a:t>Matched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Text 17"/>
          <p:cNvSpPr/>
          <p:nvPr/>
        </p:nvSpPr>
        <p:spPr>
          <a:xfrm>
            <a:off x="5897880" y="1993320"/>
            <a:ext cx="1187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Close condition met 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group completes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18"/>
          <p:cNvSpPr/>
          <p:nvPr/>
        </p:nvSpPr>
        <p:spPr>
          <a:xfrm flipV="1">
            <a:off x="6446520" y="2029680"/>
            <a:ext cx="360" cy="457200"/>
          </a:xfrm>
          <a:prstGeom prst="line">
            <a:avLst/>
          </a:prstGeom>
          <a:ln w="12700">
            <a:solidFill>
              <a:srgbClr val="C2410C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Shape 19"/>
          <p:cNvSpPr/>
          <p:nvPr/>
        </p:nvSpPr>
        <p:spPr>
          <a:xfrm>
            <a:off x="8183880" y="2505600"/>
            <a:ext cx="245520" cy="245520"/>
          </a:xfrm>
          <a:prstGeom prst="ellipse">
            <a:avLst/>
          </a:prstGeom>
          <a:solidFill>
            <a:srgbClr val="1D6B4E"/>
          </a:solidFill>
          <a:ln w="1270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0"/>
          <p:cNvSpPr/>
          <p:nvPr/>
        </p:nvSpPr>
        <p:spPr>
          <a:xfrm>
            <a:off x="7799760" y="2880360"/>
            <a:ext cx="109584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D6B4E"/>
                </a:solidFill>
                <a:effectLst/>
                <a:uFillTx/>
                <a:latin typeface="Calibri"/>
                <a:ea typeface="Calibri"/>
              </a:rPr>
              <a:t>Insights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1D6B4E"/>
                </a:solidFill>
                <a:effectLst/>
                <a:uFillTx/>
                <a:latin typeface="Calibri"/>
                <a:ea typeface="Calibri"/>
              </a:rPr>
              <a:t>Available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21"/>
          <p:cNvSpPr/>
          <p:nvPr/>
        </p:nvSpPr>
        <p:spPr>
          <a:xfrm>
            <a:off x="7754040" y="3401640"/>
            <a:ext cx="11872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Duration, segments,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status captured</a:t>
            </a:r>
            <a:endParaRPr lang="en-GB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22"/>
          <p:cNvSpPr/>
          <p:nvPr/>
        </p:nvSpPr>
        <p:spPr>
          <a:xfrm>
            <a:off x="8302680" y="2633400"/>
            <a:ext cx="360" cy="255960"/>
          </a:xfrm>
          <a:prstGeom prst="line">
            <a:avLst/>
          </a:prstGeom>
          <a:ln w="12700">
            <a:solidFill>
              <a:srgbClr val="1D6B4E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23"/>
          <p:cNvSpPr/>
          <p:nvPr/>
        </p:nvSpPr>
        <p:spPr>
          <a:xfrm>
            <a:off x="457200" y="4160520"/>
            <a:ext cx="8228160" cy="730080"/>
          </a:xfrm>
          <a:prstGeom prst="rect">
            <a:avLst/>
          </a:prstGeom>
          <a:solidFill>
            <a:srgbClr val="2A1A0A"/>
          </a:solidFill>
          <a:ln w="12700">
            <a:solidFill>
              <a:srgbClr val="C2410C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24"/>
          <p:cNvSpPr/>
          <p:nvPr/>
        </p:nvSpPr>
        <p:spPr>
          <a:xfrm>
            <a:off x="594360" y="4206240"/>
            <a:ext cx="7953840" cy="62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FED7AA"/>
                </a:solidFill>
                <a:effectLst/>
                <a:uFillTx/>
                <a:latin typeface="Calibri"/>
                <a:ea typeface="Calibri"/>
              </a:rPr>
              <a:t>⏱  Auto-Timeout: if no grave arrives within a configurable window, the group is automatically closed and marked Timed Out — no manual intervention needed.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 0"/>
          <p:cNvSpPr/>
          <p:nvPr/>
        </p:nvSpPr>
        <p:spPr>
          <a:xfrm>
            <a:off x="365760" y="182880"/>
            <a:ext cx="822816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Architecture</a:t>
            </a:r>
            <a:endParaRPr lang="en-GB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"/>
          <p:cNvSpPr/>
          <p:nvPr/>
        </p:nvSpPr>
        <p:spPr>
          <a:xfrm>
            <a:off x="228600" y="841320"/>
            <a:ext cx="20102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201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PRODUCERS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"/>
          <p:cNvSpPr/>
          <p:nvPr/>
        </p:nvSpPr>
        <p:spPr>
          <a:xfrm>
            <a:off x="1920240" y="841320"/>
            <a:ext cx="20102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201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INGEST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3"/>
          <p:cNvSpPr/>
          <p:nvPr/>
        </p:nvSpPr>
        <p:spPr>
          <a:xfrm>
            <a:off x="3749040" y="841320"/>
            <a:ext cx="20102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201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POLICY PROCESSING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4"/>
          <p:cNvSpPr/>
          <p:nvPr/>
        </p:nvSpPr>
        <p:spPr>
          <a:xfrm>
            <a:off x="6035040" y="841320"/>
            <a:ext cx="20102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pc="201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STORAGE</a:t>
            </a:r>
            <a:endParaRPr lang="en-GB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5"/>
          <p:cNvSpPr/>
          <p:nvPr/>
        </p:nvSpPr>
        <p:spPr>
          <a:xfrm>
            <a:off x="228600" y="1078920"/>
            <a:ext cx="1461600" cy="657000"/>
          </a:xfrm>
          <a:prstGeom prst="rect">
            <a:avLst/>
          </a:prstGeom>
          <a:solidFill>
            <a:srgbClr val="EEECEA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6"/>
          <p:cNvSpPr/>
          <p:nvPr/>
        </p:nvSpPr>
        <p:spPr>
          <a:xfrm>
            <a:off x="320040" y="1170360"/>
            <a:ext cx="127872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REST API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7"/>
          <p:cNvSpPr/>
          <p:nvPr/>
        </p:nvSpPr>
        <p:spPr>
          <a:xfrm>
            <a:off x="228600" y="1883520"/>
            <a:ext cx="1461600" cy="657000"/>
          </a:xfrm>
          <a:prstGeom prst="rect">
            <a:avLst/>
          </a:prstGeom>
          <a:solidFill>
            <a:srgbClr val="EEECEA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8"/>
          <p:cNvSpPr/>
          <p:nvPr/>
        </p:nvSpPr>
        <p:spPr>
          <a:xfrm>
            <a:off x="320040" y="1974960"/>
            <a:ext cx="127872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Message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Queue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9"/>
          <p:cNvSpPr/>
          <p:nvPr/>
        </p:nvSpPr>
        <p:spPr>
          <a:xfrm>
            <a:off x="228600" y="2688480"/>
            <a:ext cx="1461600" cy="657000"/>
          </a:xfrm>
          <a:prstGeom prst="rect">
            <a:avLst/>
          </a:prstGeom>
          <a:solidFill>
            <a:srgbClr val="EEECEA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10"/>
          <p:cNvSpPr/>
          <p:nvPr/>
        </p:nvSpPr>
        <p:spPr>
          <a:xfrm>
            <a:off x="320040" y="2779920"/>
            <a:ext cx="127872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Webhook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1"/>
          <p:cNvSpPr/>
          <p:nvPr/>
        </p:nvSpPr>
        <p:spPr>
          <a:xfrm>
            <a:off x="228600" y="3493080"/>
            <a:ext cx="1461600" cy="657000"/>
          </a:xfrm>
          <a:prstGeom prst="rect">
            <a:avLst/>
          </a:prstGeom>
          <a:solidFill>
            <a:srgbClr val="EEECEA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12"/>
          <p:cNvSpPr/>
          <p:nvPr/>
        </p:nvSpPr>
        <p:spPr>
          <a:xfrm>
            <a:off x="320040" y="3584520"/>
            <a:ext cx="127872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Batch Job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13"/>
          <p:cNvSpPr/>
          <p:nvPr/>
        </p:nvSpPr>
        <p:spPr>
          <a:xfrm>
            <a:off x="1920240" y="1078920"/>
            <a:ext cx="1644480" cy="2741760"/>
          </a:xfrm>
          <a:prstGeom prst="rect">
            <a:avLst/>
          </a:prstGeom>
          <a:solidFill>
            <a:srgbClr val="1D6B4E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4"/>
          <p:cNvSpPr/>
          <p:nvPr/>
        </p:nvSpPr>
        <p:spPr>
          <a:xfrm>
            <a:off x="2011680" y="1170360"/>
            <a:ext cx="1461600" cy="137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POST /ingest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HTTP API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5"/>
          <p:cNvSpPr/>
          <p:nvPr/>
        </p:nvSpPr>
        <p:spPr>
          <a:xfrm>
            <a:off x="1993320" y="2587680"/>
            <a:ext cx="149832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DCC9"/>
                </a:solidFill>
                <a:effectLst/>
                <a:uFillTx/>
                <a:latin typeface="Calibri"/>
                <a:ea typeface="Calibri"/>
              </a:rPr>
              <a:t>Express.js / Node 20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16"/>
          <p:cNvSpPr/>
          <p:nvPr/>
        </p:nvSpPr>
        <p:spPr>
          <a:xfrm>
            <a:off x="1691640" y="1407960"/>
            <a:ext cx="228600" cy="360"/>
          </a:xfrm>
          <a:prstGeom prst="line">
            <a:avLst/>
          </a:prstGeom>
          <a:ln w="1905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17"/>
          <p:cNvSpPr/>
          <p:nvPr/>
        </p:nvSpPr>
        <p:spPr>
          <a:xfrm>
            <a:off x="1691640" y="2212560"/>
            <a:ext cx="228600" cy="360"/>
          </a:xfrm>
          <a:prstGeom prst="line">
            <a:avLst/>
          </a:prstGeom>
          <a:ln w="1905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18"/>
          <p:cNvSpPr/>
          <p:nvPr/>
        </p:nvSpPr>
        <p:spPr>
          <a:xfrm>
            <a:off x="1691640" y="3017520"/>
            <a:ext cx="228600" cy="360"/>
          </a:xfrm>
          <a:prstGeom prst="line">
            <a:avLst/>
          </a:prstGeom>
          <a:ln w="1905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Shape 19"/>
          <p:cNvSpPr/>
          <p:nvPr/>
        </p:nvSpPr>
        <p:spPr>
          <a:xfrm>
            <a:off x="1691640" y="3822120"/>
            <a:ext cx="228600" cy="360"/>
          </a:xfrm>
          <a:prstGeom prst="line">
            <a:avLst/>
          </a:prstGeom>
          <a:ln w="1905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Shape 20"/>
          <p:cNvSpPr/>
          <p:nvPr/>
        </p:nvSpPr>
        <p:spPr>
          <a:xfrm>
            <a:off x="3749040" y="1078920"/>
            <a:ext cx="1918800" cy="1141560"/>
          </a:xfrm>
          <a:prstGeom prst="rect">
            <a:avLst/>
          </a:prstGeom>
          <a:solidFill>
            <a:srgbClr val="1D4B38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21"/>
          <p:cNvSpPr/>
          <p:nvPr/>
        </p:nvSpPr>
        <p:spPr>
          <a:xfrm>
            <a:off x="3840480" y="1170360"/>
            <a:ext cx="1735920" cy="570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Policy Matcher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2"/>
          <p:cNvSpPr/>
          <p:nvPr/>
        </p:nvSpPr>
        <p:spPr>
          <a:xfrm>
            <a:off x="3822120" y="1707480"/>
            <a:ext cx="177264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DCC9"/>
                </a:solidFill>
                <a:effectLst/>
                <a:uFillTx/>
                <a:latin typeface="Calibri"/>
                <a:ea typeface="Calibri"/>
              </a:rPr>
              <a:t>Cradle/Grave eval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DCC9"/>
                </a:solidFill>
                <a:effectLst/>
                <a:uFillTx/>
                <a:latin typeface="Calibri"/>
                <a:ea typeface="Calibri"/>
              </a:rPr>
              <a:t>Key extraction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3"/>
          <p:cNvSpPr/>
          <p:nvPr/>
        </p:nvSpPr>
        <p:spPr>
          <a:xfrm>
            <a:off x="3566160" y="1645920"/>
            <a:ext cx="182880" cy="360"/>
          </a:xfrm>
          <a:prstGeom prst="line">
            <a:avLst/>
          </a:prstGeom>
          <a:ln w="1905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24"/>
          <p:cNvSpPr/>
          <p:nvPr/>
        </p:nvSpPr>
        <p:spPr>
          <a:xfrm>
            <a:off x="3749040" y="2423160"/>
            <a:ext cx="1918800" cy="821520"/>
          </a:xfrm>
          <a:prstGeom prst="rect">
            <a:avLst/>
          </a:prstGeom>
          <a:solidFill>
            <a:srgbClr val="2A1A0A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5"/>
          <p:cNvSpPr/>
          <p:nvPr/>
        </p:nvSpPr>
        <p:spPr>
          <a:xfrm>
            <a:off x="3840480" y="2514600"/>
            <a:ext cx="173592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ED7AA"/>
                </a:solidFill>
                <a:effectLst/>
                <a:uFillTx/>
                <a:latin typeface="Calibri"/>
                <a:ea typeface="Calibri"/>
              </a:rPr>
              <a:t>Timeout Job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26"/>
          <p:cNvSpPr/>
          <p:nvPr/>
        </p:nvSpPr>
        <p:spPr>
          <a:xfrm>
            <a:off x="3822120" y="2875680"/>
            <a:ext cx="177264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F97316"/>
                </a:solidFill>
                <a:effectLst/>
                <a:uFillTx/>
                <a:latin typeface="Calibri"/>
                <a:ea typeface="Calibri"/>
              </a:rPr>
              <a:t>60s sweep · Retroactive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27"/>
          <p:cNvSpPr/>
          <p:nvPr/>
        </p:nvSpPr>
        <p:spPr>
          <a:xfrm>
            <a:off x="3566160" y="2834640"/>
            <a:ext cx="182880" cy="360"/>
          </a:xfrm>
          <a:prstGeom prst="line">
            <a:avLst/>
          </a:prstGeom>
          <a:ln w="1905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28"/>
          <p:cNvSpPr/>
          <p:nvPr/>
        </p:nvSpPr>
        <p:spPr>
          <a:xfrm>
            <a:off x="6035040" y="1078920"/>
            <a:ext cx="2467440" cy="684360"/>
          </a:xfrm>
          <a:prstGeom prst="rect">
            <a:avLst/>
          </a:prstGeom>
          <a:solidFill>
            <a:srgbClr val="1A3A2A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29"/>
          <p:cNvSpPr/>
          <p:nvPr/>
        </p:nvSpPr>
        <p:spPr>
          <a:xfrm>
            <a:off x="6126480" y="1170360"/>
            <a:ext cx="228456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in_progress_events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0"/>
          <p:cNvSpPr/>
          <p:nvPr/>
        </p:nvSpPr>
        <p:spPr>
          <a:xfrm>
            <a:off x="6108120" y="1456200"/>
            <a:ext cx="23212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DCC9"/>
                </a:solidFill>
                <a:effectLst/>
                <a:uFillTx/>
                <a:latin typeface="Calibri"/>
                <a:ea typeface="Calibri"/>
              </a:rPr>
              <a:t>Hot store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31"/>
          <p:cNvSpPr/>
          <p:nvPr/>
        </p:nvSpPr>
        <p:spPr>
          <a:xfrm>
            <a:off x="6035040" y="1874520"/>
            <a:ext cx="2467440" cy="684360"/>
          </a:xfrm>
          <a:prstGeom prst="rect">
            <a:avLst/>
          </a:prstGeom>
          <a:solidFill>
            <a:srgbClr val="1A3A2A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2"/>
          <p:cNvSpPr/>
          <p:nvPr/>
        </p:nvSpPr>
        <p:spPr>
          <a:xfrm>
            <a:off x="6126480" y="1965960"/>
            <a:ext cx="228456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completed_events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33"/>
          <p:cNvSpPr/>
          <p:nvPr/>
        </p:nvSpPr>
        <p:spPr>
          <a:xfrm>
            <a:off x="6108120" y="2251800"/>
            <a:ext cx="23212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DCC9"/>
                </a:solidFill>
                <a:effectLst/>
                <a:uFillTx/>
                <a:latin typeface="Calibri"/>
                <a:ea typeface="Calibri"/>
              </a:rPr>
              <a:t>Partitioned WAL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Shape 34"/>
          <p:cNvSpPr/>
          <p:nvPr/>
        </p:nvSpPr>
        <p:spPr>
          <a:xfrm>
            <a:off x="6035040" y="2670120"/>
            <a:ext cx="2467440" cy="684360"/>
          </a:xfrm>
          <a:prstGeom prst="rect">
            <a:avLst/>
          </a:prstGeom>
          <a:solidFill>
            <a:srgbClr val="1A3A2A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35"/>
          <p:cNvSpPr/>
          <p:nvPr/>
        </p:nvSpPr>
        <p:spPr>
          <a:xfrm>
            <a:off x="6126480" y="2761560"/>
            <a:ext cx="2284560" cy="34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event_segments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36"/>
          <p:cNvSpPr/>
          <p:nvPr/>
        </p:nvSpPr>
        <p:spPr>
          <a:xfrm>
            <a:off x="6108120" y="3047400"/>
            <a:ext cx="23212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B8DCC9"/>
                </a:solidFill>
                <a:effectLst/>
                <a:uFillTx/>
                <a:latin typeface="Calibri"/>
                <a:ea typeface="Calibri"/>
              </a:rPr>
              <a:t>GIN-indexed JSON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37"/>
          <p:cNvSpPr/>
          <p:nvPr/>
        </p:nvSpPr>
        <p:spPr>
          <a:xfrm>
            <a:off x="5669280" y="1426320"/>
            <a:ext cx="365760" cy="360"/>
          </a:xfrm>
          <a:prstGeom prst="line">
            <a:avLst/>
          </a:prstGeom>
          <a:ln w="1905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8"/>
          <p:cNvSpPr/>
          <p:nvPr/>
        </p:nvSpPr>
        <p:spPr>
          <a:xfrm>
            <a:off x="5669280" y="2834640"/>
            <a:ext cx="365760" cy="360"/>
          </a:xfrm>
          <a:prstGeom prst="line">
            <a:avLst/>
          </a:prstGeom>
          <a:ln w="1905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39"/>
          <p:cNvSpPr/>
          <p:nvPr/>
        </p:nvSpPr>
        <p:spPr>
          <a:xfrm>
            <a:off x="6035040" y="3465720"/>
            <a:ext cx="2467440" cy="227160"/>
          </a:xfrm>
          <a:prstGeom prst="rect">
            <a:avLst/>
          </a:prstGeom>
          <a:solidFill>
            <a:srgbClr val="1D6B4E">
              <a:alpha val="20000"/>
            </a:srgbClr>
          </a:solidFill>
          <a:ln w="12700">
            <a:solidFill>
              <a:srgbClr val="1D6B4E">
                <a:alpha val="4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40"/>
          <p:cNvSpPr/>
          <p:nvPr/>
        </p:nvSpPr>
        <p:spPr>
          <a:xfrm>
            <a:off x="6035040" y="3465720"/>
            <a:ext cx="246744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1" u="none" strike="noStrike">
                <a:solidFill>
                  <a:srgbClr val="1D6B4E"/>
                </a:solidFill>
                <a:effectLst/>
                <a:uFillTx/>
                <a:latin typeface="Calibri"/>
                <a:ea typeface="Calibri"/>
              </a:rPr>
              <a:t>PostgreSQL 16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41"/>
          <p:cNvSpPr/>
          <p:nvPr/>
        </p:nvSpPr>
        <p:spPr>
          <a:xfrm>
            <a:off x="1920240" y="3886200"/>
            <a:ext cx="1644480" cy="730080"/>
          </a:xfrm>
          <a:prstGeom prst="rect">
            <a:avLst/>
          </a:prstGeom>
          <a:solidFill>
            <a:srgbClr val="1A1916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42"/>
          <p:cNvSpPr/>
          <p:nvPr/>
        </p:nvSpPr>
        <p:spPr>
          <a:xfrm>
            <a:off x="2011680" y="3977640"/>
            <a:ext cx="146160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React UI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43"/>
          <p:cNvSpPr/>
          <p:nvPr/>
        </p:nvSpPr>
        <p:spPr>
          <a:xfrm>
            <a:off x="1993320" y="4288680"/>
            <a:ext cx="149832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Vite + nginx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44"/>
          <p:cNvSpPr/>
          <p:nvPr/>
        </p:nvSpPr>
        <p:spPr>
          <a:xfrm>
            <a:off x="3749040" y="3886200"/>
            <a:ext cx="1918800" cy="730080"/>
          </a:xfrm>
          <a:prstGeom prst="rect">
            <a:avLst/>
          </a:prstGeom>
          <a:solidFill>
            <a:srgbClr val="252320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45"/>
          <p:cNvSpPr/>
          <p:nvPr/>
        </p:nvSpPr>
        <p:spPr>
          <a:xfrm>
            <a:off x="3840480" y="3977640"/>
            <a:ext cx="17359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REST API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46"/>
          <p:cNvSpPr/>
          <p:nvPr/>
        </p:nvSpPr>
        <p:spPr>
          <a:xfrm>
            <a:off x="3822120" y="4288680"/>
            <a:ext cx="177264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GET /events · GET /stats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47"/>
          <p:cNvSpPr/>
          <p:nvPr/>
        </p:nvSpPr>
        <p:spPr>
          <a:xfrm>
            <a:off x="3566160" y="4251960"/>
            <a:ext cx="182880" cy="360"/>
          </a:xfrm>
          <a:prstGeom prst="line">
            <a:avLst/>
          </a:prstGeom>
          <a:ln w="1905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Shape 48"/>
          <p:cNvSpPr/>
          <p:nvPr/>
        </p:nvSpPr>
        <p:spPr>
          <a:xfrm flipV="1">
            <a:off x="4709160" y="3246120"/>
            <a:ext cx="360" cy="640080"/>
          </a:xfrm>
          <a:prstGeom prst="line">
            <a:avLst/>
          </a:prstGeom>
          <a:ln w="1905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tIns="45000" rIns="0" bIns="45000" anchor="t" anchorCtr="1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49"/>
          <p:cNvSpPr/>
          <p:nvPr/>
        </p:nvSpPr>
        <p:spPr>
          <a:xfrm>
            <a:off x="228600" y="4846320"/>
            <a:ext cx="163080" cy="144720"/>
          </a:xfrm>
          <a:prstGeom prst="rect">
            <a:avLst/>
          </a:prstGeom>
          <a:solidFill>
            <a:srgbClr val="1D6B4E"/>
          </a:solidFill>
          <a:ln w="1270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720" tIns="45000" rIns="8172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50"/>
          <p:cNvSpPr/>
          <p:nvPr/>
        </p:nvSpPr>
        <p:spPr>
          <a:xfrm>
            <a:off x="438840" y="4827960"/>
            <a:ext cx="24674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Core ingest &amp; policy path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Shape 51"/>
          <p:cNvSpPr/>
          <p:nvPr/>
        </p:nvSpPr>
        <p:spPr>
          <a:xfrm>
            <a:off x="3063240" y="4846320"/>
            <a:ext cx="163080" cy="144720"/>
          </a:xfrm>
          <a:prstGeom prst="rect">
            <a:avLst/>
          </a:prstGeom>
          <a:solidFill>
            <a:srgbClr val="1A3A2A"/>
          </a:solidFill>
          <a:ln w="12700">
            <a:solidFill>
              <a:srgbClr val="1A3A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720" tIns="45000" rIns="8172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52"/>
          <p:cNvSpPr/>
          <p:nvPr/>
        </p:nvSpPr>
        <p:spPr>
          <a:xfrm>
            <a:off x="3273480" y="4827960"/>
            <a:ext cx="24674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PostgreSQL storage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53"/>
          <p:cNvSpPr/>
          <p:nvPr/>
        </p:nvSpPr>
        <p:spPr>
          <a:xfrm>
            <a:off x="5897880" y="4846320"/>
            <a:ext cx="163080" cy="144720"/>
          </a:xfrm>
          <a:prstGeom prst="rect">
            <a:avLst/>
          </a:prstGeom>
          <a:solidFill>
            <a:srgbClr val="2A1A0A"/>
          </a:solidFill>
          <a:ln w="12700">
            <a:solidFill>
              <a:srgbClr val="2A1A0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81720" tIns="45000" rIns="8172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54"/>
          <p:cNvSpPr/>
          <p:nvPr/>
        </p:nvSpPr>
        <p:spPr>
          <a:xfrm>
            <a:off x="6108120" y="4827960"/>
            <a:ext cx="24674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5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Background jobs</a:t>
            </a:r>
            <a:endParaRPr lang="en-GB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 0"/>
          <p:cNvSpPr/>
          <p:nvPr/>
        </p:nvSpPr>
        <p:spPr>
          <a:xfrm>
            <a:off x="457200" y="255960"/>
            <a:ext cx="822816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REST API — Headless Integration</a:t>
            </a:r>
            <a:endParaRPr lang="en-GB" sz="2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Text 1"/>
          <p:cNvSpPr/>
          <p:nvPr/>
        </p:nvSpPr>
        <p:spPr>
          <a:xfrm>
            <a:off x="457200" y="850320"/>
            <a:ext cx="82281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B8DCC9"/>
                </a:solidFill>
                <a:effectLst/>
                <a:uFillTx/>
                <a:latin typeface="Calibri"/>
                <a:ea typeface="Calibri"/>
              </a:rPr>
              <a:t>Every core feature is available programmatically - no UI required.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2"/>
          <p:cNvSpPr/>
          <p:nvPr/>
        </p:nvSpPr>
        <p:spPr>
          <a:xfrm>
            <a:off x="457200" y="1234440"/>
            <a:ext cx="8228160" cy="327600"/>
          </a:xfrm>
          <a:prstGeom prst="rect">
            <a:avLst/>
          </a:prstGeom>
          <a:solidFill>
            <a:srgbClr val="252320"/>
          </a:solidFill>
          <a:ln w="12700">
            <a:solidFill>
              <a:srgbClr val="3A38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3"/>
          <p:cNvSpPr/>
          <p:nvPr/>
        </p:nvSpPr>
        <p:spPr>
          <a:xfrm>
            <a:off x="457200" y="1234440"/>
            <a:ext cx="657000" cy="327600"/>
          </a:xfrm>
          <a:prstGeom prst="rect">
            <a:avLst/>
          </a:prstGeom>
          <a:solidFill>
            <a:srgbClr val="1D6B4E"/>
          </a:solidFill>
          <a:ln w="1270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4"/>
          <p:cNvSpPr/>
          <p:nvPr/>
        </p:nvSpPr>
        <p:spPr>
          <a:xfrm>
            <a:off x="457200" y="1234440"/>
            <a:ext cx="65700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POST</a:t>
            </a:r>
            <a:endParaRPr lang="en-GB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5"/>
          <p:cNvSpPr/>
          <p:nvPr/>
        </p:nvSpPr>
        <p:spPr>
          <a:xfrm>
            <a:off x="1170360" y="1280160"/>
            <a:ext cx="31989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/api/v1/events/ingest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6"/>
          <p:cNvSpPr/>
          <p:nvPr/>
        </p:nvSpPr>
        <p:spPr>
          <a:xfrm>
            <a:off x="4434840" y="1298520"/>
            <a:ext cx="4113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Ingest an event from any source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7"/>
          <p:cNvSpPr/>
          <p:nvPr/>
        </p:nvSpPr>
        <p:spPr>
          <a:xfrm>
            <a:off x="457200" y="1609200"/>
            <a:ext cx="8228160" cy="327600"/>
          </a:xfrm>
          <a:prstGeom prst="rect">
            <a:avLst/>
          </a:prstGeom>
          <a:solidFill>
            <a:srgbClr val="252320"/>
          </a:solidFill>
          <a:ln w="12700">
            <a:solidFill>
              <a:srgbClr val="3A38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8"/>
          <p:cNvSpPr/>
          <p:nvPr/>
        </p:nvSpPr>
        <p:spPr>
          <a:xfrm>
            <a:off x="457200" y="1609200"/>
            <a:ext cx="657000" cy="327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9"/>
          <p:cNvSpPr/>
          <p:nvPr/>
        </p:nvSpPr>
        <p:spPr>
          <a:xfrm>
            <a:off x="457200" y="1609200"/>
            <a:ext cx="65700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GET</a:t>
            </a:r>
            <a:endParaRPr lang="en-GB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0"/>
          <p:cNvSpPr/>
          <p:nvPr/>
        </p:nvSpPr>
        <p:spPr>
          <a:xfrm>
            <a:off x="1170360" y="1654920"/>
            <a:ext cx="31989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/api/v1/events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1"/>
          <p:cNvSpPr/>
          <p:nvPr/>
        </p:nvSpPr>
        <p:spPr>
          <a:xfrm>
            <a:off x="4434840" y="1673280"/>
            <a:ext cx="4113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List &amp; filter event groups (status, policy, date, key, body)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2"/>
          <p:cNvSpPr/>
          <p:nvPr/>
        </p:nvSpPr>
        <p:spPr>
          <a:xfrm>
            <a:off x="457200" y="1984320"/>
            <a:ext cx="8228160" cy="327600"/>
          </a:xfrm>
          <a:prstGeom prst="rect">
            <a:avLst/>
          </a:prstGeom>
          <a:solidFill>
            <a:srgbClr val="252320"/>
          </a:solidFill>
          <a:ln w="12700">
            <a:solidFill>
              <a:srgbClr val="3A38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Shape 13"/>
          <p:cNvSpPr/>
          <p:nvPr/>
        </p:nvSpPr>
        <p:spPr>
          <a:xfrm>
            <a:off x="457200" y="1984320"/>
            <a:ext cx="657000" cy="327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4"/>
          <p:cNvSpPr/>
          <p:nvPr/>
        </p:nvSpPr>
        <p:spPr>
          <a:xfrm>
            <a:off x="457200" y="1984320"/>
            <a:ext cx="65700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GET</a:t>
            </a:r>
            <a:endParaRPr lang="en-GB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5"/>
          <p:cNvSpPr/>
          <p:nvPr/>
        </p:nvSpPr>
        <p:spPr>
          <a:xfrm>
            <a:off x="1170360" y="2030040"/>
            <a:ext cx="31989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/api/v1/events/:id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16"/>
          <p:cNvSpPr/>
          <p:nvPr/>
        </p:nvSpPr>
        <p:spPr>
          <a:xfrm>
            <a:off x="4434840" y="2048400"/>
            <a:ext cx="4113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Retrieve a single group with all segments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17"/>
          <p:cNvSpPr/>
          <p:nvPr/>
        </p:nvSpPr>
        <p:spPr>
          <a:xfrm>
            <a:off x="457200" y="2359080"/>
            <a:ext cx="8228160" cy="327600"/>
          </a:xfrm>
          <a:prstGeom prst="rect">
            <a:avLst/>
          </a:prstGeom>
          <a:solidFill>
            <a:srgbClr val="252320"/>
          </a:solidFill>
          <a:ln w="12700">
            <a:solidFill>
              <a:srgbClr val="3A38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Shape 18"/>
          <p:cNvSpPr/>
          <p:nvPr/>
        </p:nvSpPr>
        <p:spPr>
          <a:xfrm>
            <a:off x="457200" y="2359080"/>
            <a:ext cx="657000" cy="327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19"/>
          <p:cNvSpPr/>
          <p:nvPr/>
        </p:nvSpPr>
        <p:spPr>
          <a:xfrm>
            <a:off x="457200" y="2359080"/>
            <a:ext cx="65700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GET</a:t>
            </a:r>
            <a:endParaRPr lang="en-GB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20"/>
          <p:cNvSpPr/>
          <p:nvPr/>
        </p:nvSpPr>
        <p:spPr>
          <a:xfrm>
            <a:off x="1170360" y="2404800"/>
            <a:ext cx="31989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/api/v1/events/stats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21"/>
          <p:cNvSpPr/>
          <p:nvPr/>
        </p:nvSpPr>
        <p:spPr>
          <a:xfrm>
            <a:off x="4434840" y="2423160"/>
            <a:ext cx="4113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Aggregate metrics — completion rate, throughput, counts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22"/>
          <p:cNvSpPr/>
          <p:nvPr/>
        </p:nvSpPr>
        <p:spPr>
          <a:xfrm>
            <a:off x="457200" y="2734200"/>
            <a:ext cx="8228160" cy="327600"/>
          </a:xfrm>
          <a:prstGeom prst="rect">
            <a:avLst/>
          </a:prstGeom>
          <a:solidFill>
            <a:srgbClr val="252320"/>
          </a:solidFill>
          <a:ln w="12700">
            <a:solidFill>
              <a:srgbClr val="3A38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23"/>
          <p:cNvSpPr/>
          <p:nvPr/>
        </p:nvSpPr>
        <p:spPr>
          <a:xfrm>
            <a:off x="457200" y="2734200"/>
            <a:ext cx="657000" cy="327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24"/>
          <p:cNvSpPr/>
          <p:nvPr/>
        </p:nvSpPr>
        <p:spPr>
          <a:xfrm>
            <a:off x="457200" y="2734200"/>
            <a:ext cx="65700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GET</a:t>
            </a:r>
            <a:endParaRPr lang="en-GB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25"/>
          <p:cNvSpPr/>
          <p:nvPr/>
        </p:nvSpPr>
        <p:spPr>
          <a:xfrm>
            <a:off x="1170360" y="2779920"/>
            <a:ext cx="31989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/api/v1/events/performance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6"/>
          <p:cNvSpPr/>
          <p:nvPr/>
        </p:nvSpPr>
        <p:spPr>
          <a:xfrm>
            <a:off x="4434840" y="2797920"/>
            <a:ext cx="4113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Slowest groups, in-progress aging, duration histogram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27"/>
          <p:cNvSpPr/>
          <p:nvPr/>
        </p:nvSpPr>
        <p:spPr>
          <a:xfrm>
            <a:off x="457200" y="3108960"/>
            <a:ext cx="8228160" cy="327600"/>
          </a:xfrm>
          <a:prstGeom prst="rect">
            <a:avLst/>
          </a:prstGeom>
          <a:solidFill>
            <a:srgbClr val="252320"/>
          </a:solidFill>
          <a:ln w="12700">
            <a:solidFill>
              <a:srgbClr val="3A38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28"/>
          <p:cNvSpPr/>
          <p:nvPr/>
        </p:nvSpPr>
        <p:spPr>
          <a:xfrm>
            <a:off x="457200" y="3108960"/>
            <a:ext cx="657000" cy="3276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29"/>
          <p:cNvSpPr/>
          <p:nvPr/>
        </p:nvSpPr>
        <p:spPr>
          <a:xfrm>
            <a:off x="457200" y="3108960"/>
            <a:ext cx="65700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GET</a:t>
            </a:r>
            <a:endParaRPr lang="en-GB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30"/>
          <p:cNvSpPr/>
          <p:nvPr/>
        </p:nvSpPr>
        <p:spPr>
          <a:xfrm>
            <a:off x="1170360" y="3154680"/>
            <a:ext cx="31989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/api/v1/policies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2" name="Text 31"/>
          <p:cNvSpPr/>
          <p:nvPr/>
        </p:nvSpPr>
        <p:spPr>
          <a:xfrm>
            <a:off x="4434840" y="3173040"/>
            <a:ext cx="4113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List all aggregation policies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32"/>
          <p:cNvSpPr/>
          <p:nvPr/>
        </p:nvSpPr>
        <p:spPr>
          <a:xfrm>
            <a:off x="457200" y="3483720"/>
            <a:ext cx="8228160" cy="327600"/>
          </a:xfrm>
          <a:prstGeom prst="rect">
            <a:avLst/>
          </a:prstGeom>
          <a:solidFill>
            <a:srgbClr val="252320"/>
          </a:solidFill>
          <a:ln w="12700">
            <a:solidFill>
              <a:srgbClr val="3A38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Shape 33"/>
          <p:cNvSpPr/>
          <p:nvPr/>
        </p:nvSpPr>
        <p:spPr>
          <a:xfrm>
            <a:off x="457200" y="3483720"/>
            <a:ext cx="657000" cy="327600"/>
          </a:xfrm>
          <a:prstGeom prst="rect">
            <a:avLst/>
          </a:prstGeom>
          <a:solidFill>
            <a:srgbClr val="1D6B4E"/>
          </a:solidFill>
          <a:ln w="1270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34"/>
          <p:cNvSpPr/>
          <p:nvPr/>
        </p:nvSpPr>
        <p:spPr>
          <a:xfrm>
            <a:off x="457200" y="3483720"/>
            <a:ext cx="65700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POST</a:t>
            </a:r>
            <a:endParaRPr lang="en-GB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 35"/>
          <p:cNvSpPr/>
          <p:nvPr/>
        </p:nvSpPr>
        <p:spPr>
          <a:xfrm>
            <a:off x="1170360" y="3529440"/>
            <a:ext cx="31989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/api/v1/policies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36"/>
          <p:cNvSpPr/>
          <p:nvPr/>
        </p:nvSpPr>
        <p:spPr>
          <a:xfrm>
            <a:off x="4434840" y="3547800"/>
            <a:ext cx="4113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Create a new policy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Shape 37"/>
          <p:cNvSpPr/>
          <p:nvPr/>
        </p:nvSpPr>
        <p:spPr>
          <a:xfrm>
            <a:off x="457200" y="3858840"/>
            <a:ext cx="8228160" cy="327600"/>
          </a:xfrm>
          <a:prstGeom prst="rect">
            <a:avLst/>
          </a:prstGeom>
          <a:solidFill>
            <a:srgbClr val="252320"/>
          </a:solidFill>
          <a:ln w="12700">
            <a:solidFill>
              <a:srgbClr val="3A38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9" name="Shape 38"/>
          <p:cNvSpPr/>
          <p:nvPr/>
        </p:nvSpPr>
        <p:spPr>
          <a:xfrm>
            <a:off x="457200" y="3858840"/>
            <a:ext cx="657000" cy="3276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39"/>
          <p:cNvSpPr/>
          <p:nvPr/>
        </p:nvSpPr>
        <p:spPr>
          <a:xfrm>
            <a:off x="457200" y="3858840"/>
            <a:ext cx="65700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PUT</a:t>
            </a:r>
            <a:endParaRPr lang="en-GB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40"/>
          <p:cNvSpPr/>
          <p:nvPr/>
        </p:nvSpPr>
        <p:spPr>
          <a:xfrm>
            <a:off x="1170360" y="3904560"/>
            <a:ext cx="31989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/api/v1/policies/:id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41"/>
          <p:cNvSpPr/>
          <p:nvPr/>
        </p:nvSpPr>
        <p:spPr>
          <a:xfrm>
            <a:off x="4434840" y="3922920"/>
            <a:ext cx="4113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Update policy including timeout configuration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42"/>
          <p:cNvSpPr/>
          <p:nvPr/>
        </p:nvSpPr>
        <p:spPr>
          <a:xfrm>
            <a:off x="457200" y="4233600"/>
            <a:ext cx="8228160" cy="327600"/>
          </a:xfrm>
          <a:prstGeom prst="rect">
            <a:avLst/>
          </a:prstGeom>
          <a:solidFill>
            <a:srgbClr val="252320"/>
          </a:solidFill>
          <a:ln w="12700">
            <a:solidFill>
              <a:srgbClr val="3A383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43"/>
          <p:cNvSpPr/>
          <p:nvPr/>
        </p:nvSpPr>
        <p:spPr>
          <a:xfrm>
            <a:off x="457200" y="4233600"/>
            <a:ext cx="657000" cy="32760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 44"/>
          <p:cNvSpPr/>
          <p:nvPr/>
        </p:nvSpPr>
        <p:spPr>
          <a:xfrm>
            <a:off x="457200" y="4233600"/>
            <a:ext cx="65700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8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PATCH</a:t>
            </a:r>
            <a:endParaRPr lang="en-GB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45"/>
          <p:cNvSpPr/>
          <p:nvPr/>
        </p:nvSpPr>
        <p:spPr>
          <a:xfrm>
            <a:off x="1170360" y="4279320"/>
            <a:ext cx="319896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Courier New"/>
                <a:ea typeface="Courier New"/>
              </a:rPr>
              <a:t>/api/v1/policies/:id/toggle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6"/>
          <p:cNvSpPr/>
          <p:nvPr/>
        </p:nvSpPr>
        <p:spPr>
          <a:xfrm>
            <a:off x="4434840" y="4297680"/>
            <a:ext cx="41133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Activate or deactivate a policy</a:t>
            </a:r>
            <a:endParaRPr lang="en-GB" sz="1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47"/>
          <p:cNvSpPr/>
          <p:nvPr/>
        </p:nvSpPr>
        <p:spPr>
          <a:xfrm>
            <a:off x="457200" y="4846320"/>
            <a:ext cx="822816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i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All endpoints accept and return JSON · Authentication can be layered via reverse proxy or API gateway</a:t>
            </a:r>
            <a:endParaRPr lang="en-GB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365760" y="274320"/>
            <a:ext cx="841104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8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Reports &amp; Insights</a:t>
            </a:r>
            <a:endParaRPr lang="en-GB" sz="3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365760" y="960120"/>
            <a:ext cx="8411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1D6B4E"/>
                </a:solidFill>
                <a:effectLst/>
                <a:uFillTx/>
                <a:latin typeface="Calibri"/>
                <a:ea typeface="Calibri"/>
              </a:rPr>
              <a:t>From raw event streams to actionable intelligence - in real time.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Shape 2"/>
          <p:cNvSpPr/>
          <p:nvPr/>
        </p:nvSpPr>
        <p:spPr>
          <a:xfrm>
            <a:off x="365760" y="1417320"/>
            <a:ext cx="1958400" cy="95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Shape 3"/>
          <p:cNvSpPr/>
          <p:nvPr/>
        </p:nvSpPr>
        <p:spPr>
          <a:xfrm>
            <a:off x="365760" y="1417320"/>
            <a:ext cx="1958400" cy="62640"/>
          </a:xfrm>
          <a:prstGeom prst="rect">
            <a:avLst/>
          </a:prstGeom>
          <a:solidFill>
            <a:srgbClr val="1D6B4E"/>
          </a:solidFill>
          <a:ln w="1270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3" name="Text 4"/>
          <p:cNvSpPr/>
          <p:nvPr/>
        </p:nvSpPr>
        <p:spPr>
          <a:xfrm>
            <a:off x="365760" y="1490400"/>
            <a:ext cx="195840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D6B4E"/>
                </a:solidFill>
                <a:effectLst/>
                <a:uFillTx/>
                <a:latin typeface="Georgia"/>
                <a:ea typeface="Georgia"/>
              </a:rPr>
              <a:t>91%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Text 5"/>
          <p:cNvSpPr/>
          <p:nvPr/>
        </p:nvSpPr>
        <p:spPr>
          <a:xfrm>
            <a:off x="365760" y="2030040"/>
            <a:ext cx="19584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Completion Rate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6"/>
          <p:cNvSpPr/>
          <p:nvPr/>
        </p:nvSpPr>
        <p:spPr>
          <a:xfrm>
            <a:off x="2487600" y="1417320"/>
            <a:ext cx="1958400" cy="95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7"/>
          <p:cNvSpPr/>
          <p:nvPr/>
        </p:nvSpPr>
        <p:spPr>
          <a:xfrm>
            <a:off x="2487600" y="1417320"/>
            <a:ext cx="1958400" cy="626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8"/>
          <p:cNvSpPr/>
          <p:nvPr/>
        </p:nvSpPr>
        <p:spPr>
          <a:xfrm>
            <a:off x="2487600" y="1490400"/>
            <a:ext cx="195840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1D4ED8"/>
                </a:solidFill>
                <a:effectLst/>
                <a:uFillTx/>
                <a:latin typeface="Georgia"/>
                <a:ea typeface="Georgia"/>
              </a:rPr>
              <a:t>3.2s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9"/>
          <p:cNvSpPr/>
          <p:nvPr/>
        </p:nvSpPr>
        <p:spPr>
          <a:xfrm>
            <a:off x="2487600" y="2030040"/>
            <a:ext cx="19584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Avg Duration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10"/>
          <p:cNvSpPr/>
          <p:nvPr/>
        </p:nvSpPr>
        <p:spPr>
          <a:xfrm>
            <a:off x="4607640" y="1417320"/>
            <a:ext cx="1958400" cy="95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Shape 11"/>
          <p:cNvSpPr/>
          <p:nvPr/>
        </p:nvSpPr>
        <p:spPr>
          <a:xfrm>
            <a:off x="4607640" y="1417320"/>
            <a:ext cx="1958400" cy="626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2"/>
          <p:cNvSpPr/>
          <p:nvPr/>
        </p:nvSpPr>
        <p:spPr>
          <a:xfrm>
            <a:off x="4607640" y="1490400"/>
            <a:ext cx="195840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C2410C"/>
                </a:solidFill>
                <a:effectLst/>
                <a:uFillTx/>
                <a:latin typeface="Georgia"/>
                <a:ea typeface="Georgia"/>
              </a:rPr>
              <a:t>0.8%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13"/>
          <p:cNvSpPr/>
          <p:nvPr/>
        </p:nvSpPr>
        <p:spPr>
          <a:xfrm>
            <a:off x="4607640" y="2030040"/>
            <a:ext cx="19584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Timeout Rate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14"/>
          <p:cNvSpPr/>
          <p:nvPr/>
        </p:nvSpPr>
        <p:spPr>
          <a:xfrm>
            <a:off x="6729840" y="1417320"/>
            <a:ext cx="1958400" cy="95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15"/>
          <p:cNvSpPr/>
          <p:nvPr/>
        </p:nvSpPr>
        <p:spPr>
          <a:xfrm>
            <a:off x="6729840" y="1417320"/>
            <a:ext cx="1958400" cy="6264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19080" rIns="90000" bIns="1908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Text 16"/>
          <p:cNvSpPr/>
          <p:nvPr/>
        </p:nvSpPr>
        <p:spPr>
          <a:xfrm>
            <a:off x="6729840" y="1490400"/>
            <a:ext cx="195840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6D28D9"/>
                </a:solidFill>
                <a:effectLst/>
                <a:uFillTx/>
                <a:latin typeface="Georgia"/>
                <a:ea typeface="Georgia"/>
              </a:rPr>
              <a:t>16,060</a:t>
            </a:r>
            <a:endParaRPr lang="en-GB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7"/>
          <p:cNvSpPr/>
          <p:nvPr/>
        </p:nvSpPr>
        <p:spPr>
          <a:xfrm>
            <a:off x="6729840" y="2030040"/>
            <a:ext cx="195840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Total Segments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8"/>
          <p:cNvSpPr/>
          <p:nvPr/>
        </p:nvSpPr>
        <p:spPr>
          <a:xfrm>
            <a:off x="365760" y="2560320"/>
            <a:ext cx="2650320" cy="109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19"/>
          <p:cNvSpPr/>
          <p:nvPr/>
        </p:nvSpPr>
        <p:spPr>
          <a:xfrm>
            <a:off x="475560" y="2651760"/>
            <a:ext cx="4100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📈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 20"/>
          <p:cNvSpPr/>
          <p:nvPr/>
        </p:nvSpPr>
        <p:spPr>
          <a:xfrm>
            <a:off x="914400" y="2670120"/>
            <a:ext cx="1991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Throughput Charts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21"/>
          <p:cNvSpPr/>
          <p:nvPr/>
        </p:nvSpPr>
        <p:spPr>
          <a:xfrm>
            <a:off x="475560" y="3072240"/>
            <a:ext cx="242172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Group opens vs closes over time. Spot ingestion spikes and quiet periods at a glance.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Shape 22"/>
          <p:cNvSpPr/>
          <p:nvPr/>
        </p:nvSpPr>
        <p:spPr>
          <a:xfrm>
            <a:off x="3200400" y="2560320"/>
            <a:ext cx="2650320" cy="109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23"/>
          <p:cNvSpPr/>
          <p:nvPr/>
        </p:nvSpPr>
        <p:spPr>
          <a:xfrm>
            <a:off x="3310200" y="2651760"/>
            <a:ext cx="4100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🥧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3" name="Text 24"/>
          <p:cNvSpPr/>
          <p:nvPr/>
        </p:nvSpPr>
        <p:spPr>
          <a:xfrm>
            <a:off x="3749040" y="2670120"/>
            <a:ext cx="1991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Policy Breakdown Pies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4" name="Text 25"/>
          <p:cNvSpPr/>
          <p:nvPr/>
        </p:nvSpPr>
        <p:spPr>
          <a:xfrm>
            <a:off x="3310200" y="3072240"/>
            <a:ext cx="242172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Event groups and segment counts by policy — understand which flows dominate.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26"/>
          <p:cNvSpPr/>
          <p:nvPr/>
        </p:nvSpPr>
        <p:spPr>
          <a:xfrm>
            <a:off x="6035040" y="2560320"/>
            <a:ext cx="2650320" cy="109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7"/>
          <p:cNvSpPr/>
          <p:nvPr/>
        </p:nvSpPr>
        <p:spPr>
          <a:xfrm>
            <a:off x="6144840" y="2651760"/>
            <a:ext cx="4100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🗓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Text 28"/>
          <p:cNvSpPr/>
          <p:nvPr/>
        </p:nvSpPr>
        <p:spPr>
          <a:xfrm>
            <a:off x="6583680" y="2670120"/>
            <a:ext cx="1991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Hourly Activity Heatmap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 29"/>
          <p:cNvSpPr/>
          <p:nvPr/>
        </p:nvSpPr>
        <p:spPr>
          <a:xfrm>
            <a:off x="6144840" y="3072240"/>
            <a:ext cx="242172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7-day × 24-hour grid. Reveal peak windows and off-hours anomalies instantly.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Shape 30"/>
          <p:cNvSpPr/>
          <p:nvPr/>
        </p:nvSpPr>
        <p:spPr>
          <a:xfrm>
            <a:off x="365760" y="3794760"/>
            <a:ext cx="2650320" cy="109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0" name="Text 31"/>
          <p:cNvSpPr/>
          <p:nvPr/>
        </p:nvSpPr>
        <p:spPr>
          <a:xfrm>
            <a:off x="475560" y="3886200"/>
            <a:ext cx="4100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📊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32"/>
          <p:cNvSpPr/>
          <p:nvPr/>
        </p:nvSpPr>
        <p:spPr>
          <a:xfrm>
            <a:off x="914400" y="3904560"/>
            <a:ext cx="1991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Duration Histogram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Text 33"/>
          <p:cNvSpPr/>
          <p:nvPr/>
        </p:nvSpPr>
        <p:spPr>
          <a:xfrm>
            <a:off x="475560" y="4306680"/>
            <a:ext cx="242172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See where groups cluster — sub-second vs multi-day. Identify slow outliers.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Shape 34"/>
          <p:cNvSpPr/>
          <p:nvPr/>
        </p:nvSpPr>
        <p:spPr>
          <a:xfrm>
            <a:off x="3200400" y="3794760"/>
            <a:ext cx="2650320" cy="109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 35"/>
          <p:cNvSpPr/>
          <p:nvPr/>
        </p:nvSpPr>
        <p:spPr>
          <a:xfrm>
            <a:off x="3310200" y="3886200"/>
            <a:ext cx="4100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🏥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 36"/>
          <p:cNvSpPr/>
          <p:nvPr/>
        </p:nvSpPr>
        <p:spPr>
          <a:xfrm>
            <a:off x="3749040" y="3904560"/>
            <a:ext cx="1991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Policy Health Cards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 37"/>
          <p:cNvSpPr/>
          <p:nvPr/>
        </p:nvSpPr>
        <p:spPr>
          <a:xfrm>
            <a:off x="3310200" y="4306680"/>
            <a:ext cx="242172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Completion rate, timeout rate, avg/p50/p95 duration per policy with health badges.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38"/>
          <p:cNvSpPr/>
          <p:nvPr/>
        </p:nvSpPr>
        <p:spPr>
          <a:xfrm>
            <a:off x="6035040" y="3794760"/>
            <a:ext cx="2650320" cy="109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 39"/>
          <p:cNvSpPr/>
          <p:nvPr/>
        </p:nvSpPr>
        <p:spPr>
          <a:xfrm>
            <a:off x="6144840" y="3886200"/>
            <a:ext cx="41004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⚡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 40"/>
          <p:cNvSpPr/>
          <p:nvPr/>
        </p:nvSpPr>
        <p:spPr>
          <a:xfrm>
            <a:off x="6583680" y="3904560"/>
            <a:ext cx="19918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Event Group Performance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41"/>
          <p:cNvSpPr/>
          <p:nvPr/>
        </p:nvSpPr>
        <p:spPr>
          <a:xfrm>
            <a:off x="6144840" y="4306680"/>
            <a:ext cx="242172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Slowest groups, aging in-progress, and inline segment timeline drill-down.</a:t>
            </a:r>
            <a:endParaRPr lang="en-GB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9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Shape 0"/>
          <p:cNvSpPr/>
          <p:nvPr/>
        </p:nvSpPr>
        <p:spPr>
          <a:xfrm>
            <a:off x="0" y="0"/>
            <a:ext cx="3016080" cy="5142240"/>
          </a:xfrm>
          <a:prstGeom prst="rect">
            <a:avLst/>
          </a:prstGeom>
          <a:solidFill>
            <a:srgbClr val="1D6B4E"/>
          </a:solidFill>
          <a:ln w="1270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 1"/>
          <p:cNvSpPr/>
          <p:nvPr/>
        </p:nvSpPr>
        <p:spPr>
          <a:xfrm>
            <a:off x="137160" y="1645920"/>
            <a:ext cx="27417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Aggre/Gator</a:t>
            </a:r>
            <a:endParaRPr lang="en-GB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3" name="Text 2"/>
          <p:cNvSpPr/>
          <p:nvPr/>
        </p:nvSpPr>
        <p:spPr>
          <a:xfrm>
            <a:off x="137160" y="2423160"/>
            <a:ext cx="27417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B8DCC9"/>
                </a:solidFill>
                <a:effectLst/>
                <a:uFillTx/>
                <a:latin typeface="Courier New"/>
                <a:ea typeface="Courier New"/>
              </a:rPr>
              <a:t>event streams,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B8DCC9"/>
                </a:solidFill>
                <a:effectLst/>
                <a:uFillTx/>
                <a:latin typeface="Courier New"/>
                <a:ea typeface="Courier New"/>
              </a:rPr>
              <a:t>swallowed whole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4" name="Shape 3"/>
          <p:cNvSpPr/>
          <p:nvPr/>
        </p:nvSpPr>
        <p:spPr>
          <a:xfrm>
            <a:off x="320040" y="3246120"/>
            <a:ext cx="2376000" cy="35280"/>
          </a:xfrm>
          <a:prstGeom prst="rect">
            <a:avLst/>
          </a:prstGeom>
          <a:solidFill>
            <a:srgbClr val="B8DCC9">
              <a:alpha val="50000"/>
            </a:srgbClr>
          </a:solidFill>
          <a:ln w="12700">
            <a:solidFill>
              <a:srgbClr val="B8DCC9">
                <a:alpha val="5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8280" rIns="90000" bIns="-828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5" name="Text 4"/>
          <p:cNvSpPr/>
          <p:nvPr/>
        </p:nvSpPr>
        <p:spPr>
          <a:xfrm>
            <a:off x="137160" y="4389120"/>
            <a:ext cx="27417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i="1" u="none" strike="noStrike">
                <a:solidFill>
                  <a:srgbClr val="B8DCC9"/>
                </a:solidFill>
                <a:effectLst/>
                <a:uFillTx/>
                <a:latin typeface="Calibri"/>
                <a:ea typeface="Calibri"/>
              </a:rPr>
              <a:t>v1.0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5"/>
          <p:cNvSpPr/>
          <p:nvPr/>
        </p:nvSpPr>
        <p:spPr>
          <a:xfrm>
            <a:off x="3291840" y="320040"/>
            <a:ext cx="548496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In Summary</a:t>
            </a:r>
            <a:endParaRPr lang="en-GB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6"/>
          <p:cNvSpPr/>
          <p:nvPr/>
        </p:nvSpPr>
        <p:spPr>
          <a:xfrm>
            <a:off x="3291840" y="1051560"/>
            <a:ext cx="4557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🌐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7"/>
          <p:cNvSpPr/>
          <p:nvPr/>
        </p:nvSpPr>
        <p:spPr>
          <a:xfrm>
            <a:off x="3794760" y="1069920"/>
            <a:ext cx="5027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8DCC9"/>
                </a:solidFill>
                <a:effectLst/>
                <a:uFillTx/>
                <a:latin typeface="Georgia"/>
                <a:ea typeface="Georgia"/>
              </a:rPr>
              <a:t>Source agnostic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8"/>
          <p:cNvSpPr/>
          <p:nvPr/>
        </p:nvSpPr>
        <p:spPr>
          <a:xfrm>
            <a:off x="3794760" y="1389960"/>
            <a:ext cx="50277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One HTTP endpoint accepts events from any producer, any format, any system.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0" name="Text 9"/>
          <p:cNvSpPr/>
          <p:nvPr/>
        </p:nvSpPr>
        <p:spPr>
          <a:xfrm>
            <a:off x="3291840" y="1828800"/>
            <a:ext cx="4557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🔑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1" name="Text 10"/>
          <p:cNvSpPr/>
          <p:nvPr/>
        </p:nvSpPr>
        <p:spPr>
          <a:xfrm>
            <a:off x="3794760" y="1847160"/>
            <a:ext cx="5027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8DCC9"/>
                </a:solidFill>
                <a:effectLst/>
                <a:uFillTx/>
                <a:latin typeface="Georgia"/>
                <a:ea typeface="Georgia"/>
              </a:rPr>
              <a:t>Configurable grouping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11"/>
          <p:cNvSpPr/>
          <p:nvPr/>
        </p:nvSpPr>
        <p:spPr>
          <a:xfrm>
            <a:off x="3794760" y="2167200"/>
            <a:ext cx="50277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Policies define the key field that links related events - no code changes needed.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12"/>
          <p:cNvSpPr/>
          <p:nvPr/>
        </p:nvSpPr>
        <p:spPr>
          <a:xfrm>
            <a:off x="3291840" y="2606040"/>
            <a:ext cx="4557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🧬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 13"/>
          <p:cNvSpPr/>
          <p:nvPr/>
        </p:nvSpPr>
        <p:spPr>
          <a:xfrm>
            <a:off x="3794760" y="2624400"/>
            <a:ext cx="5027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8DCC9"/>
                </a:solidFill>
                <a:effectLst/>
                <a:uFillTx/>
                <a:latin typeface="Georgia"/>
                <a:ea typeface="Georgia"/>
              </a:rPr>
              <a:t>Cradle-to-grave lifecycle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5" name="Text 14"/>
          <p:cNvSpPr/>
          <p:nvPr/>
        </p:nvSpPr>
        <p:spPr>
          <a:xfrm>
            <a:off x="3794760" y="2944440"/>
            <a:ext cx="50277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User-defined open and close conditions give complete visibility into each group's journey.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5"/>
          <p:cNvSpPr/>
          <p:nvPr/>
        </p:nvSpPr>
        <p:spPr>
          <a:xfrm>
            <a:off x="3291840" y="3383280"/>
            <a:ext cx="4557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📊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6"/>
          <p:cNvSpPr/>
          <p:nvPr/>
        </p:nvSpPr>
        <p:spPr>
          <a:xfrm>
            <a:off x="3794760" y="3401640"/>
            <a:ext cx="5027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8DCC9"/>
                </a:solidFill>
                <a:effectLst/>
                <a:uFillTx/>
                <a:latin typeface="Georgia"/>
                <a:ea typeface="Georgia"/>
              </a:rPr>
              <a:t>Rich reporting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7"/>
          <p:cNvSpPr/>
          <p:nvPr/>
        </p:nvSpPr>
        <p:spPr>
          <a:xfrm>
            <a:off x="3794760" y="3721680"/>
            <a:ext cx="50277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Real-time dashboards, per-policy health, duration analysis, and stale group detection.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 18"/>
          <p:cNvSpPr/>
          <p:nvPr/>
        </p:nvSpPr>
        <p:spPr>
          <a:xfrm>
            <a:off x="3291840" y="4160520"/>
            <a:ext cx="4557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⏱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9"/>
          <p:cNvSpPr/>
          <p:nvPr/>
        </p:nvSpPr>
        <p:spPr>
          <a:xfrm>
            <a:off x="3794760" y="4178880"/>
            <a:ext cx="50277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B8DCC9"/>
                </a:solidFill>
                <a:effectLst/>
                <a:uFillTx/>
                <a:latin typeface="Georgia"/>
                <a:ea typeface="Georgia"/>
              </a:rPr>
              <a:t>Auto-timeout</a:t>
            </a:r>
            <a:endParaRPr lang="en-GB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20"/>
          <p:cNvSpPr/>
          <p:nvPr/>
        </p:nvSpPr>
        <p:spPr>
          <a:xfrm>
            <a:off x="3794760" y="4498920"/>
            <a:ext cx="50277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Groups that never receive a grave are automatically aged out and surfaced in the UI.</a:t>
            </a:r>
            <a:endParaRPr lang="en-GB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D6B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 0"/>
          <p:cNvSpPr/>
          <p:nvPr/>
        </p:nvSpPr>
        <p:spPr>
          <a:xfrm>
            <a:off x="457200" y="1920240"/>
            <a:ext cx="82281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Appendix</a:t>
            </a:r>
            <a:endParaRPr lang="en-GB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"/>
          <p:cNvSpPr/>
          <p:nvPr/>
        </p:nvSpPr>
        <p:spPr>
          <a:xfrm>
            <a:off x="457200" y="292608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i="1" u="none" strike="noStrike">
                <a:solidFill>
                  <a:srgbClr val="B8DCC9"/>
                </a:solidFill>
                <a:effectLst/>
                <a:uFillTx/>
                <a:latin typeface="Calibri"/>
                <a:ea typeface="Calibri"/>
              </a:rPr>
              <a:t>Screenshots from WiP Prototype</a:t>
            </a:r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Text 0"/>
          <p:cNvSpPr/>
          <p:nvPr/>
        </p:nvSpPr>
        <p:spPr>
          <a:xfrm>
            <a:off x="8503920" y="228600"/>
            <a:ext cx="410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A1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1"/>
          <p:cNvSpPr/>
          <p:nvPr/>
        </p:nvSpPr>
        <p:spPr>
          <a:xfrm>
            <a:off x="457200" y="274320"/>
            <a:ext cx="80452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Current Status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6" name="Text 4"/>
          <p:cNvSpPr/>
          <p:nvPr/>
        </p:nvSpPr>
        <p:spPr>
          <a:xfrm>
            <a:off x="3869640" y="1910520"/>
            <a:ext cx="118728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 73"/>
          <p:cNvSpPr/>
          <p:nvPr/>
        </p:nvSpPr>
        <p:spPr>
          <a:xfrm>
            <a:off x="457560" y="960480"/>
            <a:ext cx="82281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WiP - Functional Prototype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Shape 35"/>
          <p:cNvSpPr/>
          <p:nvPr/>
        </p:nvSpPr>
        <p:spPr>
          <a:xfrm>
            <a:off x="258120" y="1636560"/>
            <a:ext cx="4204800" cy="141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36"/>
          <p:cNvSpPr/>
          <p:nvPr/>
        </p:nvSpPr>
        <p:spPr>
          <a:xfrm>
            <a:off x="258120" y="1636560"/>
            <a:ext cx="62640" cy="1415880"/>
          </a:xfrm>
          <a:prstGeom prst="rect">
            <a:avLst/>
          </a:prstGeom>
          <a:solidFill>
            <a:srgbClr val="1D6B4E"/>
          </a:solidFill>
          <a:ln w="1270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320" tIns="45000" rIns="3132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 74"/>
          <p:cNvSpPr/>
          <p:nvPr/>
        </p:nvSpPr>
        <p:spPr>
          <a:xfrm>
            <a:off x="395280" y="1746360"/>
            <a:ext cx="50148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 75"/>
          <p:cNvSpPr/>
          <p:nvPr/>
        </p:nvSpPr>
        <p:spPr>
          <a:xfrm>
            <a:off x="943920" y="1746360"/>
            <a:ext cx="3381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Fully Dockerized Container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 76"/>
          <p:cNvSpPr/>
          <p:nvPr/>
        </p:nvSpPr>
        <p:spPr>
          <a:xfrm>
            <a:off x="943920" y="2139480"/>
            <a:ext cx="338184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110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encapsulates the entire application, including its code, runtime, system tools, libraries, database and configurations, into a single, portable, and reproducible unit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3" name="Shape 40"/>
          <p:cNvSpPr/>
          <p:nvPr/>
        </p:nvSpPr>
        <p:spPr>
          <a:xfrm>
            <a:off x="4692960" y="1636560"/>
            <a:ext cx="4204800" cy="141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  <a:effectLst>
            <a:outerShdw algn="bl" blurRad="76320" dir="8100000" dist="25455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4" name="Shape 45"/>
          <p:cNvSpPr/>
          <p:nvPr/>
        </p:nvSpPr>
        <p:spPr>
          <a:xfrm>
            <a:off x="4692960" y="1636560"/>
            <a:ext cx="62640" cy="1415880"/>
          </a:xfrm>
          <a:prstGeom prst="rect">
            <a:avLst/>
          </a:prstGeom>
          <a:solidFill>
            <a:srgbClr val="1D6B4E"/>
          </a:solidFill>
          <a:ln w="12700">
            <a:solidFill>
              <a:srgbClr val="1D6B4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1320" tIns="45000" rIns="31320" bIns="45000" anchor="t">
            <a:noAutofit/>
          </a:bodyPr>
          <a:p>
            <a:endParaRPr lang="en-GB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78"/>
          <p:cNvSpPr/>
          <p:nvPr/>
        </p:nvSpPr>
        <p:spPr>
          <a:xfrm>
            <a:off x="5378760" y="1746360"/>
            <a:ext cx="338184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Fully functional</a:t>
            </a:r>
            <a:endParaRPr lang="en-GB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79"/>
          <p:cNvSpPr/>
          <p:nvPr/>
        </p:nvSpPr>
        <p:spPr>
          <a:xfrm>
            <a:off x="5378760" y="2139480"/>
            <a:ext cx="3381840" cy="80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4A4844"/>
                </a:solidFill>
                <a:effectLst/>
                <a:uFillTx/>
                <a:latin typeface="Calibri"/>
                <a:ea typeface="Calibri"/>
              </a:rPr>
              <a:t>All features are working as designed, no smoke and mirrors or hard coded data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7" name=""/>
          <p:cNvPicPr/>
          <p:nvPr/>
        </p:nvPicPr>
        <p:blipFill>
          <a:blip r:embed="rId1"/>
          <a:stretch/>
        </p:blipFill>
        <p:spPr>
          <a:xfrm>
            <a:off x="433800" y="1746360"/>
            <a:ext cx="357480" cy="359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08" name=""/>
          <p:cNvPicPr/>
          <p:nvPr/>
        </p:nvPicPr>
        <p:blipFill>
          <a:blip r:embed="rId2"/>
          <a:stretch/>
        </p:blipFill>
        <p:spPr>
          <a:xfrm>
            <a:off x="4914000" y="1836000"/>
            <a:ext cx="377280" cy="269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Text 66"/>
          <p:cNvSpPr/>
          <p:nvPr/>
        </p:nvSpPr>
        <p:spPr>
          <a:xfrm>
            <a:off x="8503920" y="228600"/>
            <a:ext cx="410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A1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67"/>
          <p:cNvSpPr/>
          <p:nvPr/>
        </p:nvSpPr>
        <p:spPr>
          <a:xfrm>
            <a:off x="457200" y="274320"/>
            <a:ext cx="80452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Event Groups — Overview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 68"/>
          <p:cNvSpPr/>
          <p:nvPr/>
        </p:nvSpPr>
        <p:spPr>
          <a:xfrm>
            <a:off x="3977640" y="1874520"/>
            <a:ext cx="118728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🖼</a:t>
            </a:r>
            <a:endParaRPr lang="en-GB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 69"/>
          <p:cNvSpPr/>
          <p:nvPr/>
        </p:nvSpPr>
        <p:spPr>
          <a:xfrm>
            <a:off x="1828800" y="3063240"/>
            <a:ext cx="5484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70"/>
          <p:cNvSpPr/>
          <p:nvPr/>
        </p:nvSpPr>
        <p:spPr>
          <a:xfrm>
            <a:off x="1371600" y="3429000"/>
            <a:ext cx="6399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29"/>
          <p:cNvSpPr/>
          <p:nvPr/>
        </p:nvSpPr>
        <p:spPr>
          <a:xfrm>
            <a:off x="457200" y="4663440"/>
            <a:ext cx="8228160" cy="34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71"/>
          <p:cNvSpPr/>
          <p:nvPr/>
        </p:nvSpPr>
        <p:spPr>
          <a:xfrm>
            <a:off x="548640" y="4709160"/>
            <a:ext cx="80452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Fig. A1  —  Event Groups — Overview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"/>
          <p:cNvPicPr/>
          <p:nvPr/>
        </p:nvPicPr>
        <p:blipFill>
          <a:blip r:embed="rId1"/>
          <a:stretch/>
        </p:blipFill>
        <p:spPr>
          <a:xfrm>
            <a:off x="4034520" y="864000"/>
            <a:ext cx="3668760" cy="3774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KeyPoints_ 1"/>
          <p:cNvSpPr/>
          <p:nvPr/>
        </p:nvSpPr>
        <p:spPr>
          <a:xfrm>
            <a:off x="540000" y="900000"/>
            <a:ext cx="3059280" cy="1907280"/>
          </a:xfrm>
          <a:prstGeom prst="rect">
            <a:avLst/>
          </a:prstGeom>
          <a:solidFill>
            <a:srgbClr val="F8F7F4"/>
          </a:solidFill>
          <a:ln w="9525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fontScale="85000" lnSpcReduction="19999"/>
          </a:bodyPr>
          <a:p>
            <a:pPr>
              <a:lnSpc>
                <a:spcPts val="1199"/>
              </a:lnSpc>
            </a:pPr>
            <a:r>
              <a:rPr lang="en-GB" sz="1000" b="1" u="none" strike="noStrike">
                <a:solidFill>
                  <a:srgbClr val="1D6B4E"/>
                </a:solidFill>
                <a:effectLst/>
                <a:uFillTx/>
                <a:latin typeface="Georgia"/>
              </a:rPr>
              <a:t>Key Points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105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Filter by status (Completed / In Progress / Timed Out), policy, date range, aggregation key and body content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105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Stats bar shows live counts — total groups, completion rate, in-progress, timed-out, segments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105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Rows per page and column visibility are configurable; export to JSON or CSV from any row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105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Clicking a row opens the in-line detail panel without leaving the list</a:t>
            </a:r>
            <a:endParaRPr lang="en-GB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Text 0"/>
          <p:cNvSpPr/>
          <p:nvPr/>
        </p:nvSpPr>
        <p:spPr>
          <a:xfrm>
            <a:off x="8503920" y="228600"/>
            <a:ext cx="410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A2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 1"/>
          <p:cNvSpPr/>
          <p:nvPr/>
        </p:nvSpPr>
        <p:spPr>
          <a:xfrm>
            <a:off x="457200" y="274320"/>
            <a:ext cx="80452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Event Group Detail &amp; Timeline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 5"/>
          <p:cNvSpPr/>
          <p:nvPr/>
        </p:nvSpPr>
        <p:spPr>
          <a:xfrm>
            <a:off x="2800800" y="3063240"/>
            <a:ext cx="5484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6"/>
          <p:cNvSpPr/>
          <p:nvPr/>
        </p:nvSpPr>
        <p:spPr>
          <a:xfrm>
            <a:off x="2343600" y="3429000"/>
            <a:ext cx="6399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Shape 7"/>
          <p:cNvSpPr/>
          <p:nvPr/>
        </p:nvSpPr>
        <p:spPr>
          <a:xfrm>
            <a:off x="457200" y="4663440"/>
            <a:ext cx="8228160" cy="34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3" name="Text 8"/>
          <p:cNvSpPr/>
          <p:nvPr/>
        </p:nvSpPr>
        <p:spPr>
          <a:xfrm>
            <a:off x="548640" y="4709160"/>
            <a:ext cx="80452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Fig. A2  —  Event Group Detail &amp; Timeline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4" name=""/>
          <p:cNvPicPr/>
          <p:nvPr/>
        </p:nvPicPr>
        <p:blipFill>
          <a:blip r:embed="rId1"/>
          <a:stretch/>
        </p:blipFill>
        <p:spPr>
          <a:xfrm>
            <a:off x="2268000" y="1080000"/>
            <a:ext cx="3778920" cy="3442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5" name=""/>
          <p:cNvPicPr/>
          <p:nvPr/>
        </p:nvPicPr>
        <p:blipFill>
          <a:blip r:embed="rId2"/>
          <a:stretch/>
        </p:blipFill>
        <p:spPr>
          <a:xfrm>
            <a:off x="6192000" y="1080000"/>
            <a:ext cx="2476440" cy="344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6" name="KeyPoints_13"/>
          <p:cNvSpPr/>
          <p:nvPr/>
        </p:nvSpPr>
        <p:spPr>
          <a:xfrm>
            <a:off x="36000" y="1080000"/>
            <a:ext cx="2123280" cy="2699280"/>
          </a:xfrm>
          <a:prstGeom prst="rect">
            <a:avLst/>
          </a:prstGeom>
          <a:solidFill>
            <a:srgbClr val="F8F7F4"/>
          </a:solidFill>
          <a:ln w="9525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ts val="1199"/>
              </a:lnSpc>
            </a:pPr>
            <a:r>
              <a:rPr lang="en-GB" sz="1000" b="1" u="none" strike="noStrike">
                <a:solidFill>
                  <a:srgbClr val="1D6B4E"/>
                </a:solidFill>
                <a:effectLst/>
                <a:uFillTx/>
                <a:latin typeface="Georgia"/>
              </a:rPr>
              <a:t>Key Points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Left panel shows the full event group — aggregation key, policy, start/end, duration and store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Each segment is listed in sequence; CRADLE and GRAVE are labelled; LAST BEFORE TIMEOUT marks auto-closed groups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Click any segment to expand the raw JSON body for inspection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Switch between List and Timeline views; export the full group as JSON or CSV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 48"/>
          <p:cNvSpPr/>
          <p:nvPr/>
        </p:nvSpPr>
        <p:spPr>
          <a:xfrm>
            <a:off x="8503920" y="228600"/>
            <a:ext cx="410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A3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Text 49"/>
          <p:cNvSpPr/>
          <p:nvPr/>
        </p:nvSpPr>
        <p:spPr>
          <a:xfrm>
            <a:off x="457200" y="274320"/>
            <a:ext cx="80452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Raw Events 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9" name="Text 51"/>
          <p:cNvSpPr/>
          <p:nvPr/>
        </p:nvSpPr>
        <p:spPr>
          <a:xfrm>
            <a:off x="1828800" y="3063240"/>
            <a:ext cx="5484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53"/>
          <p:cNvSpPr/>
          <p:nvPr/>
        </p:nvSpPr>
        <p:spPr>
          <a:xfrm>
            <a:off x="1371600" y="3429000"/>
            <a:ext cx="6399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21"/>
          <p:cNvSpPr/>
          <p:nvPr/>
        </p:nvSpPr>
        <p:spPr>
          <a:xfrm>
            <a:off x="457200" y="4663440"/>
            <a:ext cx="8228160" cy="34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Text 55"/>
          <p:cNvSpPr/>
          <p:nvPr/>
        </p:nvSpPr>
        <p:spPr>
          <a:xfrm>
            <a:off x="548640" y="4709160"/>
            <a:ext cx="80452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Fig. A2  —  Event Group Detail &amp; Timeline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3" name=""/>
          <p:cNvPicPr/>
          <p:nvPr/>
        </p:nvPicPr>
        <p:blipFill>
          <a:blip r:embed="rId1"/>
          <a:stretch/>
        </p:blipFill>
        <p:spPr>
          <a:xfrm>
            <a:off x="3960000" y="720000"/>
            <a:ext cx="3996000" cy="3706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KeyPoints_14"/>
          <p:cNvSpPr/>
          <p:nvPr/>
        </p:nvSpPr>
        <p:spPr>
          <a:xfrm>
            <a:off x="360000" y="822240"/>
            <a:ext cx="3530880" cy="1932480"/>
          </a:xfrm>
          <a:prstGeom prst="rect">
            <a:avLst/>
          </a:prstGeom>
          <a:solidFill>
            <a:srgbClr val="F8F7F4"/>
          </a:solidFill>
          <a:ln w="9525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ts val="1199"/>
              </a:lnSpc>
            </a:pPr>
            <a:r>
              <a:rPr lang="en-GB" sz="1000" b="1" u="none" strike="noStrike">
                <a:solidFill>
                  <a:srgbClr val="1D6B4E"/>
                </a:solidFill>
                <a:effectLst/>
                <a:uFillTx/>
                <a:latin typeface="Georgia"/>
              </a:rPr>
              <a:t>Key Points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The Segments tab shows every individual event across all groups in a flat, sortable list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Filter segments by policy, date range, aggregation key or body search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Useful for finding a specific event ID and jumping directly to its parent group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Column visibility is configurable — show or hide event ID, timestamp, body fields as needed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Text 61"/>
          <p:cNvSpPr/>
          <p:nvPr/>
        </p:nvSpPr>
        <p:spPr>
          <a:xfrm>
            <a:off x="8503920" y="228600"/>
            <a:ext cx="410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A4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62"/>
          <p:cNvSpPr/>
          <p:nvPr/>
        </p:nvSpPr>
        <p:spPr>
          <a:xfrm>
            <a:off x="457200" y="274320"/>
            <a:ext cx="80452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Raw Events – Drill into Event Group Detail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63"/>
          <p:cNvSpPr/>
          <p:nvPr/>
        </p:nvSpPr>
        <p:spPr>
          <a:xfrm>
            <a:off x="1828800" y="3063240"/>
            <a:ext cx="5484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64"/>
          <p:cNvSpPr/>
          <p:nvPr/>
        </p:nvSpPr>
        <p:spPr>
          <a:xfrm>
            <a:off x="1371600" y="3429000"/>
            <a:ext cx="6399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25"/>
          <p:cNvSpPr/>
          <p:nvPr/>
        </p:nvSpPr>
        <p:spPr>
          <a:xfrm>
            <a:off x="457200" y="4663440"/>
            <a:ext cx="8228160" cy="34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65"/>
          <p:cNvSpPr/>
          <p:nvPr/>
        </p:nvSpPr>
        <p:spPr>
          <a:xfrm>
            <a:off x="548640" y="4709160"/>
            <a:ext cx="80452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Fig. A2  —  Event Group Detail &amp; Timeline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1" name=""/>
          <p:cNvPicPr/>
          <p:nvPr/>
        </p:nvPicPr>
        <p:blipFill>
          <a:blip r:embed="rId1"/>
          <a:stretch/>
        </p:blipFill>
        <p:spPr>
          <a:xfrm>
            <a:off x="2998800" y="900000"/>
            <a:ext cx="5460120" cy="3573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" name="KeyPoints_15"/>
          <p:cNvSpPr/>
          <p:nvPr/>
        </p:nvSpPr>
        <p:spPr>
          <a:xfrm>
            <a:off x="104400" y="900000"/>
            <a:ext cx="2774880" cy="1932480"/>
          </a:xfrm>
          <a:prstGeom prst="rect">
            <a:avLst/>
          </a:prstGeom>
          <a:solidFill>
            <a:srgbClr val="F8F7F4"/>
          </a:solidFill>
          <a:ln w="9525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ts val="1199"/>
              </a:lnSpc>
            </a:pPr>
            <a:r>
              <a:rPr lang="en-GB" sz="1000" b="1" u="none" strike="noStrike">
                <a:solidFill>
                  <a:srgbClr val="1D6B4E"/>
                </a:solidFill>
                <a:effectLst/>
                <a:uFillTx/>
                <a:latin typeface="Georgia"/>
              </a:rPr>
              <a:t>Key Points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Clicking any segment row opens the parent event group detail panel on the right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The originating segment is highlighted so context is immediately clear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The full segment timeline is visible — navigate forward or back through related segments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Group metadata (policy, duration, status) is shown alongside the segment body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Text 0"/>
          <p:cNvSpPr/>
          <p:nvPr/>
        </p:nvSpPr>
        <p:spPr>
          <a:xfrm>
            <a:off x="8503920" y="228600"/>
            <a:ext cx="410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A5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"/>
          <p:cNvSpPr/>
          <p:nvPr/>
        </p:nvSpPr>
        <p:spPr>
          <a:xfrm>
            <a:off x="457200" y="274320"/>
            <a:ext cx="80452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Reports — Overview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6"/>
          <p:cNvSpPr/>
          <p:nvPr/>
        </p:nvSpPr>
        <p:spPr>
          <a:xfrm>
            <a:off x="1371600" y="3429000"/>
            <a:ext cx="6399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7"/>
          <p:cNvSpPr/>
          <p:nvPr/>
        </p:nvSpPr>
        <p:spPr>
          <a:xfrm>
            <a:off x="457200" y="4663440"/>
            <a:ext cx="8228160" cy="34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Text 8"/>
          <p:cNvSpPr/>
          <p:nvPr/>
        </p:nvSpPr>
        <p:spPr>
          <a:xfrm>
            <a:off x="548640" y="4709160"/>
            <a:ext cx="80452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Fig. A3  —  Reports — Overview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8" name=""/>
          <p:cNvPicPr/>
          <p:nvPr/>
        </p:nvPicPr>
        <p:blipFill>
          <a:blip r:embed="rId1"/>
          <a:stretch/>
        </p:blipFill>
        <p:spPr>
          <a:xfrm>
            <a:off x="4500000" y="663840"/>
            <a:ext cx="3419280" cy="3979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KeyPoints_16"/>
          <p:cNvSpPr/>
          <p:nvPr/>
        </p:nvSpPr>
        <p:spPr>
          <a:xfrm>
            <a:off x="360000" y="910080"/>
            <a:ext cx="3278880" cy="1932480"/>
          </a:xfrm>
          <a:prstGeom prst="rect">
            <a:avLst/>
          </a:prstGeom>
          <a:solidFill>
            <a:srgbClr val="F8F7F4"/>
          </a:solidFill>
          <a:ln w="9525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ts val="1199"/>
              </a:lnSpc>
            </a:pPr>
            <a:r>
              <a:rPr lang="en-GB" sz="1000" b="1" u="none" strike="noStrike">
                <a:solidFill>
                  <a:srgbClr val="1D6B4E"/>
                </a:solidFill>
                <a:effectLst/>
                <a:uFillTx/>
                <a:latin typeface="Georgia"/>
              </a:rPr>
              <a:t>Key Points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Throughput charts show group opens vs closes over time with configurable bucket granularity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Pie charts break down event groups and segment counts by policy for the selected time window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Hourly heat map reveals peak ingestion windows across a 7-day × 24-hour grid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KPI row below shows completion rate, avg segments per group, throughput and in-progress count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ext 0"/>
          <p:cNvSpPr/>
          <p:nvPr/>
        </p:nvSpPr>
        <p:spPr>
          <a:xfrm>
            <a:off x="8503920" y="228600"/>
            <a:ext cx="410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A6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1"/>
          <p:cNvSpPr/>
          <p:nvPr/>
        </p:nvSpPr>
        <p:spPr>
          <a:xfrm>
            <a:off x="457200" y="274320"/>
            <a:ext cx="80452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Reports — Policy Stats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5"/>
          <p:cNvSpPr/>
          <p:nvPr/>
        </p:nvSpPr>
        <p:spPr>
          <a:xfrm>
            <a:off x="1828800" y="3063240"/>
            <a:ext cx="5484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Text 6"/>
          <p:cNvSpPr/>
          <p:nvPr/>
        </p:nvSpPr>
        <p:spPr>
          <a:xfrm>
            <a:off x="1371600" y="3429000"/>
            <a:ext cx="6399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4" name="Shape 7"/>
          <p:cNvSpPr/>
          <p:nvPr/>
        </p:nvSpPr>
        <p:spPr>
          <a:xfrm>
            <a:off x="457200" y="4663440"/>
            <a:ext cx="8228160" cy="34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8"/>
          <p:cNvSpPr/>
          <p:nvPr/>
        </p:nvSpPr>
        <p:spPr>
          <a:xfrm>
            <a:off x="548640" y="4709160"/>
            <a:ext cx="80452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Fig. A4  —  Reports — Policy Stats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6" name=""/>
          <p:cNvPicPr/>
          <p:nvPr/>
        </p:nvPicPr>
        <p:blipFill>
          <a:blip r:embed="rId1"/>
          <a:stretch/>
        </p:blipFill>
        <p:spPr>
          <a:xfrm>
            <a:off x="3466440" y="936000"/>
            <a:ext cx="5218920" cy="3800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7" name="KeyPoints_17"/>
          <p:cNvSpPr/>
          <p:nvPr/>
        </p:nvSpPr>
        <p:spPr>
          <a:xfrm>
            <a:off x="319320" y="936000"/>
            <a:ext cx="3062880" cy="2004480"/>
          </a:xfrm>
          <a:prstGeom prst="rect">
            <a:avLst/>
          </a:prstGeom>
          <a:solidFill>
            <a:srgbClr val="F8F7F4"/>
          </a:solidFill>
          <a:ln w="9525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ts val="1199"/>
              </a:lnSpc>
            </a:pPr>
            <a:r>
              <a:rPr lang="en-GB" sz="1000" b="1" u="none" strike="noStrike">
                <a:solidFill>
                  <a:srgbClr val="1D6B4E"/>
                </a:solidFill>
                <a:effectLst/>
                <a:uFillTx/>
                <a:latin typeface="Georgia"/>
              </a:rPr>
              <a:t>Key Points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Each policy gets a health card — Healthy / Warning / Critical based on completion rate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Stat grid shows total, completed, timed-out, in-progress, segments and avg duration per policy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Gradient completion bar shows natural completions vs timeouts in distinct colours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Expand any card to see avg / p50 / p95 duration estimates with a relative scale bar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Text 0"/>
          <p:cNvSpPr/>
          <p:nvPr/>
        </p:nvSpPr>
        <p:spPr>
          <a:xfrm>
            <a:off x="8503920" y="228600"/>
            <a:ext cx="410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A7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1"/>
          <p:cNvSpPr/>
          <p:nvPr/>
        </p:nvSpPr>
        <p:spPr>
          <a:xfrm>
            <a:off x="457200" y="274320"/>
            <a:ext cx="80452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Event Group Performance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Text 5"/>
          <p:cNvSpPr/>
          <p:nvPr/>
        </p:nvSpPr>
        <p:spPr>
          <a:xfrm>
            <a:off x="1828800" y="3063240"/>
            <a:ext cx="5484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 6"/>
          <p:cNvSpPr/>
          <p:nvPr/>
        </p:nvSpPr>
        <p:spPr>
          <a:xfrm>
            <a:off x="1371600" y="3429000"/>
            <a:ext cx="6399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Shape 7"/>
          <p:cNvSpPr/>
          <p:nvPr/>
        </p:nvSpPr>
        <p:spPr>
          <a:xfrm>
            <a:off x="457200" y="4663440"/>
            <a:ext cx="8228160" cy="34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3" name="Text 8"/>
          <p:cNvSpPr/>
          <p:nvPr/>
        </p:nvSpPr>
        <p:spPr>
          <a:xfrm>
            <a:off x="548640" y="4709160"/>
            <a:ext cx="80452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Fig. A5  —  Event Group Performance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4" name=""/>
          <p:cNvPicPr/>
          <p:nvPr/>
        </p:nvPicPr>
        <p:blipFill>
          <a:blip r:embed="rId1"/>
          <a:stretch/>
        </p:blipFill>
        <p:spPr>
          <a:xfrm>
            <a:off x="5058000" y="900000"/>
            <a:ext cx="3041640" cy="3599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5" name="KeyPoints_18"/>
          <p:cNvSpPr/>
          <p:nvPr/>
        </p:nvSpPr>
        <p:spPr>
          <a:xfrm>
            <a:off x="499320" y="900000"/>
            <a:ext cx="3782880" cy="1982880"/>
          </a:xfrm>
          <a:prstGeom prst="rect">
            <a:avLst/>
          </a:prstGeom>
          <a:solidFill>
            <a:srgbClr val="F8F7F4"/>
          </a:solidFill>
          <a:ln w="9525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ts val="1199"/>
              </a:lnSpc>
            </a:pPr>
            <a:r>
              <a:rPr lang="en-GB" sz="1000" b="1" u="none" strike="noStrike">
                <a:solidFill>
                  <a:srgbClr val="1D6B4E"/>
                </a:solidFill>
                <a:effectLst/>
                <a:uFillTx/>
                <a:latin typeface="Georgia"/>
              </a:rPr>
              <a:t>Key Points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Summary stats bar shows slowest group, fastest completion, most segments, and stale-open count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Slowest Completed table is sorted by duration — click Timeline to drill into any group inline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In-Progress Aging table sorts oldest-first and flags groups open longer than 1 hour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Duration histogram buckets all completed groups from sub-second to multi-day at a glance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Text 38"/>
          <p:cNvSpPr/>
          <p:nvPr/>
        </p:nvSpPr>
        <p:spPr>
          <a:xfrm>
            <a:off x="8503920" y="228600"/>
            <a:ext cx="410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A8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7" name="Text 56"/>
          <p:cNvSpPr/>
          <p:nvPr/>
        </p:nvSpPr>
        <p:spPr>
          <a:xfrm>
            <a:off x="457200" y="274320"/>
            <a:ext cx="80452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Policy Configuration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 57"/>
          <p:cNvSpPr/>
          <p:nvPr/>
        </p:nvSpPr>
        <p:spPr>
          <a:xfrm>
            <a:off x="3977640" y="1874520"/>
            <a:ext cx="118728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58"/>
          <p:cNvSpPr/>
          <p:nvPr/>
        </p:nvSpPr>
        <p:spPr>
          <a:xfrm>
            <a:off x="1828800" y="3063240"/>
            <a:ext cx="5484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 59"/>
          <p:cNvSpPr/>
          <p:nvPr/>
        </p:nvSpPr>
        <p:spPr>
          <a:xfrm>
            <a:off x="1371600" y="3429000"/>
            <a:ext cx="6399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1"/>
          <p:cNvSpPr/>
          <p:nvPr/>
        </p:nvSpPr>
        <p:spPr>
          <a:xfrm>
            <a:off x="457200" y="4663440"/>
            <a:ext cx="8228160" cy="34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Text 60"/>
          <p:cNvSpPr/>
          <p:nvPr/>
        </p:nvSpPr>
        <p:spPr>
          <a:xfrm>
            <a:off x="548640" y="4709160"/>
            <a:ext cx="80452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Fig. A6  —  Policy Configuration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3" name=""/>
          <p:cNvPicPr/>
          <p:nvPr/>
        </p:nvPicPr>
        <p:blipFill>
          <a:blip r:embed="rId1"/>
          <a:stretch/>
        </p:blipFill>
        <p:spPr>
          <a:xfrm>
            <a:off x="3240000" y="900000"/>
            <a:ext cx="1802160" cy="3526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74" name=""/>
          <p:cNvPicPr/>
          <p:nvPr/>
        </p:nvPicPr>
        <p:blipFill>
          <a:blip r:embed="rId2"/>
          <a:stretch/>
        </p:blipFill>
        <p:spPr>
          <a:xfrm>
            <a:off x="5167080" y="900000"/>
            <a:ext cx="3543840" cy="3525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5" name="KeyPoints_19"/>
          <p:cNvSpPr/>
          <p:nvPr/>
        </p:nvSpPr>
        <p:spPr>
          <a:xfrm>
            <a:off x="180000" y="900000"/>
            <a:ext cx="3059280" cy="2159280"/>
          </a:xfrm>
          <a:prstGeom prst="rect">
            <a:avLst/>
          </a:prstGeom>
          <a:solidFill>
            <a:srgbClr val="F8F7F4"/>
          </a:solidFill>
          <a:ln w="9525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 lnSpcReduction="9999"/>
          </a:bodyPr>
          <a:p>
            <a:pPr>
              <a:lnSpc>
                <a:spcPts val="1199"/>
              </a:lnSpc>
            </a:pPr>
            <a:r>
              <a:rPr lang="en-GB" sz="1000" b="1" u="none" strike="noStrike">
                <a:solidFill>
                  <a:srgbClr val="1D6B4E"/>
                </a:solidFill>
                <a:effectLst/>
                <a:uFillTx/>
                <a:latin typeface="Georgia"/>
              </a:rPr>
              <a:t>Key Points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Each policy defines a key field (the grouping key), cradle condition (open) and grave condition (close)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Auto-Timeout toggle sets a per-policy window — groups with no grave after this period are auto-closed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Saving a timeout retroactively applies it: existing in-progress groups are swept and closed immediately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Policies can be activated/deactivated at runtime without restarting — changes take effect on the next ingest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Text 72"/>
          <p:cNvSpPr/>
          <p:nvPr/>
        </p:nvSpPr>
        <p:spPr>
          <a:xfrm>
            <a:off x="8503920" y="228600"/>
            <a:ext cx="410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A8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7" name="Text 77"/>
          <p:cNvSpPr/>
          <p:nvPr/>
        </p:nvSpPr>
        <p:spPr>
          <a:xfrm>
            <a:off x="457200" y="274320"/>
            <a:ext cx="80452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Self Hosted API Documentation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8" name="Text 80"/>
          <p:cNvSpPr/>
          <p:nvPr/>
        </p:nvSpPr>
        <p:spPr>
          <a:xfrm>
            <a:off x="3977640" y="1874520"/>
            <a:ext cx="118728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81"/>
          <p:cNvSpPr/>
          <p:nvPr/>
        </p:nvSpPr>
        <p:spPr>
          <a:xfrm>
            <a:off x="1828800" y="3063240"/>
            <a:ext cx="5484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82"/>
          <p:cNvSpPr/>
          <p:nvPr/>
        </p:nvSpPr>
        <p:spPr>
          <a:xfrm>
            <a:off x="1371600" y="3429000"/>
            <a:ext cx="6399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46"/>
          <p:cNvSpPr/>
          <p:nvPr/>
        </p:nvSpPr>
        <p:spPr>
          <a:xfrm>
            <a:off x="457200" y="4663440"/>
            <a:ext cx="8228160" cy="34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83"/>
          <p:cNvSpPr/>
          <p:nvPr/>
        </p:nvSpPr>
        <p:spPr>
          <a:xfrm>
            <a:off x="548640" y="4709160"/>
            <a:ext cx="80452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Fig. A6  —  Policy Configuration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KeyPoints_ 2"/>
          <p:cNvSpPr/>
          <p:nvPr/>
        </p:nvSpPr>
        <p:spPr>
          <a:xfrm>
            <a:off x="180000" y="900000"/>
            <a:ext cx="3059280" cy="2159280"/>
          </a:xfrm>
          <a:prstGeom prst="rect">
            <a:avLst/>
          </a:prstGeom>
          <a:solidFill>
            <a:srgbClr val="F8F7F4"/>
          </a:solidFill>
          <a:ln w="9525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ts val="1199"/>
              </a:lnSpc>
            </a:pPr>
            <a:r>
              <a:rPr lang="en-GB" sz="1000" b="1" u="none" strike="noStrike">
                <a:solidFill>
                  <a:srgbClr val="1D6B4E"/>
                </a:solidFill>
                <a:effectLst/>
                <a:uFillTx/>
                <a:latin typeface="Georgia"/>
              </a:rPr>
              <a:t>Key Points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Self hosted swagger API documentation at &lt;Sever&gt;:&lt;port&gt;/api/v1/docs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Contains documentation and schema for all endpoints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Open API 3.0 compliant JSON exportable (works in postman etc)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 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84" name=""/>
          <p:cNvPicPr/>
          <p:nvPr/>
        </p:nvPicPr>
        <p:blipFill>
          <a:blip r:embed="rId1"/>
          <a:stretch/>
        </p:blipFill>
        <p:spPr>
          <a:xfrm>
            <a:off x="3600000" y="821880"/>
            <a:ext cx="3717360" cy="37512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ext 90"/>
          <p:cNvSpPr/>
          <p:nvPr/>
        </p:nvSpPr>
        <p:spPr>
          <a:xfrm>
            <a:off x="8503920" y="228600"/>
            <a:ext cx="410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A8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91"/>
          <p:cNvSpPr/>
          <p:nvPr/>
        </p:nvSpPr>
        <p:spPr>
          <a:xfrm>
            <a:off x="457200" y="274320"/>
            <a:ext cx="80452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Wip Configuration Menus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 92"/>
          <p:cNvSpPr/>
          <p:nvPr/>
        </p:nvSpPr>
        <p:spPr>
          <a:xfrm>
            <a:off x="3977640" y="1874520"/>
            <a:ext cx="118728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93"/>
          <p:cNvSpPr/>
          <p:nvPr/>
        </p:nvSpPr>
        <p:spPr>
          <a:xfrm>
            <a:off x="1828800" y="3063240"/>
            <a:ext cx="5484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94"/>
          <p:cNvSpPr/>
          <p:nvPr/>
        </p:nvSpPr>
        <p:spPr>
          <a:xfrm>
            <a:off x="1371600" y="3429000"/>
            <a:ext cx="6399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Shape 52"/>
          <p:cNvSpPr/>
          <p:nvPr/>
        </p:nvSpPr>
        <p:spPr>
          <a:xfrm>
            <a:off x="457200" y="4663440"/>
            <a:ext cx="8228160" cy="34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Text 95"/>
          <p:cNvSpPr/>
          <p:nvPr/>
        </p:nvSpPr>
        <p:spPr>
          <a:xfrm>
            <a:off x="548640" y="4709160"/>
            <a:ext cx="80452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Fig. A6  —  Policy Configuration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KeyPoints_ 4"/>
          <p:cNvSpPr/>
          <p:nvPr/>
        </p:nvSpPr>
        <p:spPr>
          <a:xfrm>
            <a:off x="180000" y="900000"/>
            <a:ext cx="3059280" cy="2159280"/>
          </a:xfrm>
          <a:prstGeom prst="rect">
            <a:avLst/>
          </a:prstGeom>
          <a:solidFill>
            <a:srgbClr val="F8F7F4"/>
          </a:solidFill>
          <a:ln w="9525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ts val="1199"/>
              </a:lnSpc>
            </a:pPr>
            <a:r>
              <a:rPr lang="en-GB" sz="1000" b="1" u="none" strike="noStrike">
                <a:solidFill>
                  <a:srgbClr val="1D6B4E"/>
                </a:solidFill>
                <a:effectLst/>
                <a:uFillTx/>
                <a:latin typeface="Georgia"/>
              </a:rPr>
              <a:t>Key Points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“Burger” style menu item added for de-cluttering of UI / ease of configuration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Policies screen migrated to Menu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Accounts menu item and UI added 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 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3" name=""/>
          <p:cNvPicPr/>
          <p:nvPr/>
        </p:nvPicPr>
        <p:blipFill>
          <a:blip r:embed="rId1"/>
          <a:stretch/>
        </p:blipFill>
        <p:spPr>
          <a:xfrm>
            <a:off x="3600000" y="1533960"/>
            <a:ext cx="4679280" cy="2245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94" name=""/>
          <p:cNvPicPr/>
          <p:nvPr/>
        </p:nvPicPr>
        <p:blipFill>
          <a:blip r:embed="rId2"/>
          <a:stretch/>
        </p:blipFill>
        <p:spPr>
          <a:xfrm>
            <a:off x="3508920" y="935280"/>
            <a:ext cx="4770360" cy="504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Text 84"/>
          <p:cNvSpPr/>
          <p:nvPr/>
        </p:nvSpPr>
        <p:spPr>
          <a:xfrm>
            <a:off x="8503920" y="228600"/>
            <a:ext cx="4100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A8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 85"/>
          <p:cNvSpPr/>
          <p:nvPr/>
        </p:nvSpPr>
        <p:spPr>
          <a:xfrm>
            <a:off x="457200" y="274320"/>
            <a:ext cx="8045280" cy="54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1916"/>
                </a:solidFill>
                <a:effectLst/>
                <a:uFillTx/>
                <a:latin typeface="Georgia"/>
                <a:ea typeface="Georgia"/>
              </a:rPr>
              <a:t>Wip Configuration Menus - Users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86"/>
          <p:cNvSpPr/>
          <p:nvPr/>
        </p:nvSpPr>
        <p:spPr>
          <a:xfrm>
            <a:off x="3977640" y="1874520"/>
            <a:ext cx="1187280" cy="109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87"/>
          <p:cNvSpPr/>
          <p:nvPr/>
        </p:nvSpPr>
        <p:spPr>
          <a:xfrm>
            <a:off x="1828800" y="3063240"/>
            <a:ext cx="548496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 88"/>
          <p:cNvSpPr/>
          <p:nvPr/>
        </p:nvSpPr>
        <p:spPr>
          <a:xfrm>
            <a:off x="1371600" y="3429000"/>
            <a:ext cx="63993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Shape 50"/>
          <p:cNvSpPr/>
          <p:nvPr/>
        </p:nvSpPr>
        <p:spPr>
          <a:xfrm>
            <a:off x="457200" y="4663440"/>
            <a:ext cx="8228160" cy="34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89"/>
          <p:cNvSpPr/>
          <p:nvPr/>
        </p:nvSpPr>
        <p:spPr>
          <a:xfrm>
            <a:off x="548640" y="4709160"/>
            <a:ext cx="8045280" cy="25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u="none" strike="noStrike">
                <a:solidFill>
                  <a:srgbClr val="8A8680"/>
                </a:solidFill>
                <a:effectLst/>
                <a:uFillTx/>
                <a:latin typeface="Calibri"/>
                <a:ea typeface="Calibri"/>
              </a:rPr>
              <a:t>Fig. A6  —  Policy Configuration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KeyPoints_ 3"/>
          <p:cNvSpPr/>
          <p:nvPr/>
        </p:nvSpPr>
        <p:spPr>
          <a:xfrm>
            <a:off x="180000" y="900000"/>
            <a:ext cx="3059280" cy="2159280"/>
          </a:xfrm>
          <a:prstGeom prst="rect">
            <a:avLst/>
          </a:prstGeom>
          <a:solidFill>
            <a:srgbClr val="F8F7F4"/>
          </a:solidFill>
          <a:ln w="9525">
            <a:solidFill>
              <a:srgbClr val="E0DDD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>
              <a:lnSpc>
                <a:spcPts val="1199"/>
              </a:lnSpc>
            </a:pPr>
            <a:r>
              <a:rPr lang="en-GB" sz="1000" b="1" u="none" strike="noStrike">
                <a:solidFill>
                  <a:srgbClr val="1D6B4E"/>
                </a:solidFill>
                <a:effectLst/>
                <a:uFillTx/>
                <a:latin typeface="Georgia"/>
              </a:rPr>
              <a:t>Key Points</a:t>
            </a:r>
            <a:endParaRPr lang="en-GB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Manage UI accounts (Add,Disable,Remove)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Grant Roles (View,Edit,FullAdmin) – *API Read/API Write in Futures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Last Login host and datetime information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ts val="1301"/>
              </a:lnSpc>
            </a:pP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>
              <a:lnSpc>
                <a:spcPts val="1301"/>
              </a:lnSpc>
              <a:buClr>
                <a:srgbClr val="4A4844"/>
              </a:buClr>
              <a:buFont typeface="Symbol" charset="2"/>
              <a:buChar char=""/>
            </a:pPr>
            <a:r>
              <a:rPr lang="en-GB" sz="900" b="0" u="none" strike="noStrike">
                <a:solidFill>
                  <a:srgbClr val="4A4844"/>
                </a:solidFill>
                <a:effectLst/>
                <a:uFillTx/>
                <a:latin typeface="Calibri"/>
              </a:rPr>
              <a:t>All accounts stored in database with password hashing </a:t>
            </a:r>
            <a:endParaRPr lang="en-GB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3" name=""/>
          <p:cNvPicPr/>
          <p:nvPr/>
        </p:nvPicPr>
        <p:blipFill>
          <a:blip r:embed="rId1"/>
          <a:stretch/>
        </p:blipFill>
        <p:spPr>
          <a:xfrm>
            <a:off x="3960000" y="822240"/>
            <a:ext cx="3419280" cy="1468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4" name=""/>
          <p:cNvPicPr/>
          <p:nvPr/>
        </p:nvPicPr>
        <p:blipFill>
          <a:blip r:embed="rId2"/>
          <a:stretch/>
        </p:blipFill>
        <p:spPr>
          <a:xfrm>
            <a:off x="3977640" y="2430360"/>
            <a:ext cx="2741040" cy="20689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</TotalTime>
  <Application>LibreOffice/26.2.2.2$Linux_X86_64 LibreOffice_project/620$Build-2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2026-05-11T16:33:15Z</dcterms:created>
  <dc:creator>PptxGenJS</dc:creator>
  <dc:description/>
  <dc:language>en-GB</dc:language>
  <cp:lastModifiedBy/>
  <cp:lastPrinted>2026-05-13T12:29:16Z</cp:lastPrinted>
  <dcterms:modified xsi:type="dcterms:W3CDTF">2026-05-13T12:56:45Z</dcterms:modified>
  <cp:revision>13</cp:revision>
  <dc:subject>PptxGenJS Presentation</dc:subject>
  <dc:title>Aggre/Gator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17</vt:i4>
  </property>
  <property fmtid="{D5CDD505-2E9C-101B-9397-08002B2CF9AE}" pid="3" name="PresentationFormat">
    <vt:lpwstr>On-screen Show (16:9)</vt:lpwstr>
  </property>
  <property fmtid="{D5CDD505-2E9C-101B-9397-08002B2CF9AE}" pid="4" name="Slides">
    <vt:i4>17</vt:i4>
  </property>
</Properties>
</file>